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E1B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E1B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E1B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E1B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575" y="370776"/>
            <a:ext cx="5297170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E1B3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159192"/>
            <a:ext cx="3952240" cy="1182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E1B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6575" y="672528"/>
            <a:ext cx="3773804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77595" algn="l"/>
                <a:tab pos="1296670" algn="l"/>
              </a:tabLst>
            </a:pP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C</a:t>
            </a:r>
            <a:r>
              <a:rPr dirty="0" sz="1100" spc="6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A</a:t>
            </a:r>
            <a:r>
              <a:rPr dirty="0" sz="1100" spc="5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P</a:t>
            </a:r>
            <a:r>
              <a:rPr dirty="0" sz="1100" spc="5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S</a:t>
            </a:r>
            <a:r>
              <a:rPr dirty="0" sz="1100" spc="5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T</a:t>
            </a:r>
            <a:r>
              <a:rPr dirty="0" sz="1100" spc="2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O</a:t>
            </a:r>
            <a:r>
              <a:rPr dirty="0" sz="1100" spc="4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N</a:t>
            </a:r>
            <a:r>
              <a:rPr dirty="0" sz="1100" spc="7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F5A622"/>
                </a:solidFill>
                <a:latin typeface="Calibri"/>
                <a:cs typeface="Calibri"/>
              </a:rPr>
              <a:t>E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	</a:t>
            </a:r>
            <a:r>
              <a:rPr dirty="0" sz="1100" spc="-50" b="1">
                <a:solidFill>
                  <a:srgbClr val="F5A622"/>
                </a:solidFill>
                <a:latin typeface="Calibri"/>
                <a:cs typeface="Calibri"/>
              </a:rPr>
              <a:t>·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	D</a:t>
            </a:r>
            <a:r>
              <a:rPr dirty="0" sz="1100" spc="1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A</a:t>
            </a:r>
            <a:r>
              <a:rPr dirty="0" sz="1100" spc="5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T</a:t>
            </a:r>
            <a:r>
              <a:rPr dirty="0" sz="1100" spc="2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A</a:t>
            </a:r>
            <a:r>
              <a:rPr dirty="0" sz="1100" spc="210" b="1">
                <a:solidFill>
                  <a:srgbClr val="F5A622"/>
                </a:solidFill>
                <a:latin typeface="Calibri"/>
                <a:cs typeface="Calibri"/>
              </a:rPr>
              <a:t> 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A</a:t>
            </a:r>
            <a:r>
              <a:rPr dirty="0" sz="1100" spc="-2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N</a:t>
            </a:r>
            <a:r>
              <a:rPr dirty="0" sz="1100" spc="6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A</a:t>
            </a:r>
            <a:r>
              <a:rPr dirty="0" sz="1100" spc="5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L</a:t>
            </a:r>
            <a:r>
              <a:rPr dirty="0" sz="1100" spc="3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Y</a:t>
            </a:r>
            <a:r>
              <a:rPr dirty="0" sz="1100" spc="7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S</a:t>
            </a:r>
            <a:r>
              <a:rPr dirty="0" sz="1100" spc="5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T</a:t>
            </a:r>
            <a:r>
              <a:rPr dirty="0" sz="1100" spc="160" b="1">
                <a:solidFill>
                  <a:srgbClr val="F5A622"/>
                </a:solidFill>
                <a:latin typeface="Calibri"/>
                <a:cs typeface="Calibri"/>
              </a:rPr>
              <a:t> 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I</a:t>
            </a:r>
            <a:r>
              <a:rPr dirty="0" sz="1100" spc="5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N</a:t>
            </a:r>
            <a:r>
              <a:rPr dirty="0" sz="1100" spc="6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T</a:t>
            </a:r>
            <a:r>
              <a:rPr dirty="0" sz="1100" spc="2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E</a:t>
            </a:r>
            <a:r>
              <a:rPr dirty="0" sz="1100" spc="3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R</a:t>
            </a:r>
            <a:r>
              <a:rPr dirty="0" sz="1100" spc="10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N</a:t>
            </a:r>
            <a:r>
              <a:rPr dirty="0" sz="1100" spc="-1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S</a:t>
            </a:r>
            <a:r>
              <a:rPr dirty="0" sz="1100" spc="5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H</a:t>
            </a:r>
            <a:r>
              <a:rPr dirty="0" sz="1100" spc="9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I</a:t>
            </a:r>
            <a:r>
              <a:rPr dirty="0" sz="1100" spc="55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F5A622"/>
                </a:solidFill>
                <a:latin typeface="Calibri"/>
                <a:cs typeface="Calibri"/>
              </a:rPr>
              <a:t>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6195" rIns="0" bIns="0" rtlCol="0" vert="horz">
            <a:spAutoFit/>
          </a:bodyPr>
          <a:lstStyle/>
          <a:p>
            <a:pPr marL="12700" marR="5080">
              <a:lnSpc>
                <a:spcPts val="4510"/>
              </a:lnSpc>
              <a:spcBef>
                <a:spcPts val="285"/>
              </a:spcBef>
            </a:pPr>
            <a:r>
              <a:rPr dirty="0"/>
              <a:t>From</a:t>
            </a:r>
            <a:r>
              <a:rPr dirty="0" spc="-130"/>
              <a:t> </a:t>
            </a:r>
            <a:r>
              <a:rPr dirty="0"/>
              <a:t>Raw</a:t>
            </a:r>
            <a:r>
              <a:rPr dirty="0" spc="-145"/>
              <a:t> </a:t>
            </a:r>
            <a:r>
              <a:rPr dirty="0"/>
              <a:t>Data</a:t>
            </a:r>
            <a:r>
              <a:rPr dirty="0" spc="-180"/>
              <a:t> </a:t>
            </a:r>
            <a:r>
              <a:rPr dirty="0" spc="-25"/>
              <a:t>to </a:t>
            </a:r>
            <a:r>
              <a:rPr dirty="0"/>
              <a:t>Business</a:t>
            </a:r>
            <a:r>
              <a:rPr dirty="0" spc="-110"/>
              <a:t> </a:t>
            </a:r>
            <a:r>
              <a:rPr dirty="0" spc="-10"/>
              <a:t>Strategy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575" y="2991421"/>
            <a:ext cx="4519930" cy="4629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dirty="0" sz="1400">
                <a:solidFill>
                  <a:srgbClr val="A9B4D5"/>
                </a:solidFill>
                <a:latin typeface="Calibri"/>
                <a:cs typeface="Calibri"/>
              </a:rPr>
              <a:t>An</a:t>
            </a:r>
            <a:r>
              <a:rPr dirty="0" sz="1400" spc="-3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9B4D5"/>
                </a:solidFill>
                <a:latin typeface="Calibri"/>
                <a:cs typeface="Calibri"/>
              </a:rPr>
              <a:t>end-to-</a:t>
            </a:r>
            <a:r>
              <a:rPr dirty="0" sz="1400">
                <a:solidFill>
                  <a:srgbClr val="A9B4D5"/>
                </a:solidFill>
                <a:latin typeface="Calibri"/>
                <a:cs typeface="Calibri"/>
              </a:rPr>
              <a:t>end</a:t>
            </a:r>
            <a:r>
              <a:rPr dirty="0" sz="1400" spc="-2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A9B4D5"/>
                </a:solidFill>
                <a:latin typeface="Calibri"/>
                <a:cs typeface="Calibri"/>
              </a:rPr>
              <a:t>analytics</a:t>
            </a:r>
            <a:r>
              <a:rPr dirty="0" sz="1400" spc="1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9B4D5"/>
                </a:solidFill>
                <a:latin typeface="Calibri"/>
                <a:cs typeface="Calibri"/>
              </a:rPr>
              <a:t>journey:</a:t>
            </a:r>
            <a:r>
              <a:rPr dirty="0" sz="1400" spc="-3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A9B4D5"/>
                </a:solidFill>
                <a:latin typeface="Calibri"/>
                <a:cs typeface="Calibri"/>
              </a:rPr>
              <a:t>data</a:t>
            </a:r>
            <a:r>
              <a:rPr dirty="0" sz="1400" spc="-3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A9B4D5"/>
                </a:solidFill>
                <a:latin typeface="Calibri"/>
                <a:cs typeface="Calibri"/>
              </a:rPr>
              <a:t>cleaning,</a:t>
            </a:r>
            <a:r>
              <a:rPr dirty="0" sz="1400" spc="-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9B4D5"/>
                </a:solidFill>
                <a:latin typeface="Calibri"/>
                <a:cs typeface="Calibri"/>
              </a:rPr>
              <a:t>dashboarding, statistical</a:t>
            </a:r>
            <a:r>
              <a:rPr dirty="0" sz="1400" spc="1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9B4D5"/>
                </a:solidFill>
                <a:latin typeface="Calibri"/>
                <a:cs typeface="Calibri"/>
              </a:rPr>
              <a:t>validation</a:t>
            </a:r>
            <a:r>
              <a:rPr dirty="0" sz="1400" spc="-3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A9B4D5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A9B4D5"/>
                </a:solidFill>
                <a:latin typeface="Calibri"/>
                <a:cs typeface="Calibri"/>
              </a:rPr>
              <a:t>stakeholder storytelling.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575" y="4191634"/>
            <a:ext cx="3492500" cy="390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Aggarapu</a:t>
            </a:r>
            <a:r>
              <a:rPr dirty="0" sz="12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Naga</a:t>
            </a:r>
            <a:r>
              <a:rPr dirty="0" sz="12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Vyshnavi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dirty="0" sz="1200" spc="-10">
                <a:solidFill>
                  <a:srgbClr val="A9B4D5"/>
                </a:solidFill>
                <a:latin typeface="Calibri"/>
                <a:cs typeface="Calibri"/>
              </a:rPr>
              <a:t>ApexPlanet</a:t>
            </a:r>
            <a:r>
              <a:rPr dirty="0" sz="1200" spc="-2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9B4D5"/>
                </a:solidFill>
                <a:latin typeface="Calibri"/>
                <a:cs typeface="Calibri"/>
              </a:rPr>
              <a:t>Software</a:t>
            </a:r>
            <a:r>
              <a:rPr dirty="0" sz="1200" spc="-6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9B4D5"/>
                </a:solidFill>
                <a:latin typeface="Calibri"/>
                <a:cs typeface="Calibri"/>
              </a:rPr>
              <a:t>Pvt.</a:t>
            </a:r>
            <a:r>
              <a:rPr dirty="0" sz="1200" spc="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9B4D5"/>
                </a:solidFill>
                <a:latin typeface="Calibri"/>
                <a:cs typeface="Calibri"/>
              </a:rPr>
              <a:t>Ltd.</a:t>
            </a:r>
            <a:r>
              <a:rPr dirty="0" sz="1200" spc="-6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9B4D5"/>
                </a:solidFill>
                <a:latin typeface="Calibri"/>
                <a:cs typeface="Calibri"/>
              </a:rPr>
              <a:t>· Data</a:t>
            </a:r>
            <a:r>
              <a:rPr dirty="0" sz="1200" spc="-4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9B4D5"/>
                </a:solidFill>
                <a:latin typeface="Calibri"/>
                <a:cs typeface="Calibri"/>
              </a:rPr>
              <a:t>Analytics</a:t>
            </a:r>
            <a:r>
              <a:rPr dirty="0" sz="1200" spc="-10">
                <a:solidFill>
                  <a:srgbClr val="A9B4D5"/>
                </a:solidFill>
                <a:latin typeface="Calibri"/>
                <a:cs typeface="Calibri"/>
              </a:rPr>
              <a:t> Internship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61101" y="550926"/>
            <a:ext cx="3395979" cy="4213225"/>
            <a:chOff x="5761101" y="550926"/>
            <a:chExt cx="3395979" cy="4213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1101" y="550926"/>
              <a:ext cx="3395599" cy="421316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1425" y="2381249"/>
              <a:ext cx="542925" cy="5429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dirty="0" spc="-45"/>
              <a:t> </a:t>
            </a:r>
            <a:r>
              <a:rPr dirty="0" spc="-10"/>
              <a:t>Journey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75" y="1031303"/>
            <a:ext cx="333692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B6382"/>
                </a:solidFill>
                <a:latin typeface="Calibri"/>
                <a:cs typeface="Calibri"/>
              </a:rPr>
              <a:t>Four</a:t>
            </a:r>
            <a:r>
              <a:rPr dirty="0" sz="1500" spc="-7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382"/>
                </a:solidFill>
                <a:latin typeface="Calibri"/>
                <a:cs typeface="Calibri"/>
              </a:rPr>
              <a:t>phases,</a:t>
            </a:r>
            <a:r>
              <a:rPr dirty="0" sz="1500" spc="-6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382"/>
                </a:solidFill>
                <a:latin typeface="Calibri"/>
                <a:cs typeface="Calibri"/>
              </a:rPr>
              <a:t>one </a:t>
            </a:r>
            <a:r>
              <a:rPr dirty="0" sz="1500" spc="-10">
                <a:solidFill>
                  <a:srgbClr val="5B6382"/>
                </a:solidFill>
                <a:latin typeface="Calibri"/>
                <a:cs typeface="Calibri"/>
              </a:rPr>
              <a:t>connected</a:t>
            </a:r>
            <a:r>
              <a:rPr dirty="0" sz="1500" spc="-3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382"/>
                </a:solidFill>
                <a:latin typeface="Calibri"/>
                <a:cs typeface="Calibri"/>
              </a:rPr>
              <a:t>analytics</a:t>
            </a:r>
            <a:r>
              <a:rPr dirty="0" sz="1500" spc="1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5B6382"/>
                </a:solidFill>
                <a:latin typeface="Calibri"/>
                <a:cs typeface="Calibri"/>
              </a:rPr>
              <a:t>story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89012" y="1674876"/>
            <a:ext cx="7271384" cy="965200"/>
            <a:chOff x="989012" y="1674876"/>
            <a:chExt cx="7271384" cy="965200"/>
          </a:xfrm>
        </p:grpSpPr>
        <p:sp>
          <p:nvSpPr>
            <p:cNvPr id="6" name="object 6"/>
            <p:cNvSpPr/>
            <p:nvPr/>
          </p:nvSpPr>
          <p:spPr>
            <a:xfrm>
              <a:off x="1195387" y="2157476"/>
              <a:ext cx="6763384" cy="0"/>
            </a:xfrm>
            <a:custGeom>
              <a:avLst/>
              <a:gdLst/>
              <a:ahLst/>
              <a:cxnLst/>
              <a:rect l="l" t="t" r="r" b="b"/>
              <a:pathLst>
                <a:path w="6763384" h="0">
                  <a:moveTo>
                    <a:pt x="0" y="0"/>
                  </a:moveTo>
                  <a:lnTo>
                    <a:pt x="6762813" y="0"/>
                  </a:lnTo>
                </a:path>
              </a:pathLst>
            </a:custGeom>
            <a:ln w="25400">
              <a:solidFill>
                <a:srgbClr val="C5CCD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14412" y="1700276"/>
              <a:ext cx="915035" cy="914400"/>
            </a:xfrm>
            <a:custGeom>
              <a:avLst/>
              <a:gdLst/>
              <a:ahLst/>
              <a:cxnLst/>
              <a:rect l="l" t="t" r="r" b="b"/>
              <a:pathLst>
                <a:path w="915035" h="914400">
                  <a:moveTo>
                    <a:pt x="457263" y="0"/>
                  </a:moveTo>
                  <a:lnTo>
                    <a:pt x="410506" y="2359"/>
                  </a:lnTo>
                  <a:lnTo>
                    <a:pt x="365101" y="9284"/>
                  </a:lnTo>
                  <a:lnTo>
                    <a:pt x="321277" y="20546"/>
                  </a:lnTo>
                  <a:lnTo>
                    <a:pt x="279265" y="35915"/>
                  </a:lnTo>
                  <a:lnTo>
                    <a:pt x="239293" y="55161"/>
                  </a:lnTo>
                  <a:lnTo>
                    <a:pt x="201592" y="78056"/>
                  </a:lnTo>
                  <a:lnTo>
                    <a:pt x="166390" y="104370"/>
                  </a:lnTo>
                  <a:lnTo>
                    <a:pt x="133919" y="133873"/>
                  </a:lnTo>
                  <a:lnTo>
                    <a:pt x="104408" y="166337"/>
                  </a:lnTo>
                  <a:lnTo>
                    <a:pt x="78086" y="201531"/>
                  </a:lnTo>
                  <a:lnTo>
                    <a:pt x="55184" y="239227"/>
                  </a:lnTo>
                  <a:lnTo>
                    <a:pt x="35930" y="279195"/>
                  </a:lnTo>
                  <a:lnTo>
                    <a:pt x="20555" y="321206"/>
                  </a:lnTo>
                  <a:lnTo>
                    <a:pt x="9288" y="365029"/>
                  </a:lnTo>
                  <a:lnTo>
                    <a:pt x="2360" y="410437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8" y="549333"/>
                  </a:lnTo>
                  <a:lnTo>
                    <a:pt x="20555" y="593146"/>
                  </a:lnTo>
                  <a:lnTo>
                    <a:pt x="35930" y="635150"/>
                  </a:lnTo>
                  <a:lnTo>
                    <a:pt x="55184" y="675116"/>
                  </a:lnTo>
                  <a:lnTo>
                    <a:pt x="78086" y="712812"/>
                  </a:lnTo>
                  <a:lnTo>
                    <a:pt x="104408" y="748009"/>
                  </a:lnTo>
                  <a:lnTo>
                    <a:pt x="133919" y="780478"/>
                  </a:lnTo>
                  <a:lnTo>
                    <a:pt x="166390" y="809988"/>
                  </a:lnTo>
                  <a:lnTo>
                    <a:pt x="201592" y="836309"/>
                  </a:lnTo>
                  <a:lnTo>
                    <a:pt x="239293" y="859212"/>
                  </a:lnTo>
                  <a:lnTo>
                    <a:pt x="279265" y="878466"/>
                  </a:lnTo>
                  <a:lnTo>
                    <a:pt x="321277" y="893842"/>
                  </a:lnTo>
                  <a:lnTo>
                    <a:pt x="365101" y="905110"/>
                  </a:lnTo>
                  <a:lnTo>
                    <a:pt x="410506" y="912039"/>
                  </a:lnTo>
                  <a:lnTo>
                    <a:pt x="457263" y="914400"/>
                  </a:lnTo>
                  <a:lnTo>
                    <a:pt x="504004" y="912039"/>
                  </a:lnTo>
                  <a:lnTo>
                    <a:pt x="549397" y="905110"/>
                  </a:lnTo>
                  <a:lnTo>
                    <a:pt x="593210" y="893842"/>
                  </a:lnTo>
                  <a:lnTo>
                    <a:pt x="635214" y="878466"/>
                  </a:lnTo>
                  <a:lnTo>
                    <a:pt x="675179" y="859212"/>
                  </a:lnTo>
                  <a:lnTo>
                    <a:pt x="712875" y="836309"/>
                  </a:lnTo>
                  <a:lnTo>
                    <a:pt x="748073" y="809988"/>
                  </a:lnTo>
                  <a:lnTo>
                    <a:pt x="780541" y="780478"/>
                  </a:lnTo>
                  <a:lnTo>
                    <a:pt x="810052" y="748009"/>
                  </a:lnTo>
                  <a:lnTo>
                    <a:pt x="836373" y="712812"/>
                  </a:lnTo>
                  <a:lnTo>
                    <a:pt x="859276" y="675116"/>
                  </a:lnTo>
                  <a:lnTo>
                    <a:pt x="878530" y="635150"/>
                  </a:lnTo>
                  <a:lnTo>
                    <a:pt x="893906" y="593146"/>
                  </a:lnTo>
                  <a:lnTo>
                    <a:pt x="905173" y="549333"/>
                  </a:lnTo>
                  <a:lnTo>
                    <a:pt x="912102" y="503941"/>
                  </a:lnTo>
                  <a:lnTo>
                    <a:pt x="914463" y="457200"/>
                  </a:lnTo>
                  <a:lnTo>
                    <a:pt x="912102" y="410437"/>
                  </a:lnTo>
                  <a:lnTo>
                    <a:pt x="905173" y="365029"/>
                  </a:lnTo>
                  <a:lnTo>
                    <a:pt x="893906" y="321206"/>
                  </a:lnTo>
                  <a:lnTo>
                    <a:pt x="878530" y="279195"/>
                  </a:lnTo>
                  <a:lnTo>
                    <a:pt x="859276" y="239227"/>
                  </a:lnTo>
                  <a:lnTo>
                    <a:pt x="836373" y="201531"/>
                  </a:lnTo>
                  <a:lnTo>
                    <a:pt x="810052" y="166337"/>
                  </a:lnTo>
                  <a:lnTo>
                    <a:pt x="780542" y="133873"/>
                  </a:lnTo>
                  <a:lnTo>
                    <a:pt x="748073" y="104370"/>
                  </a:lnTo>
                  <a:lnTo>
                    <a:pt x="712875" y="78056"/>
                  </a:lnTo>
                  <a:lnTo>
                    <a:pt x="675179" y="55161"/>
                  </a:lnTo>
                  <a:lnTo>
                    <a:pt x="635214" y="35915"/>
                  </a:lnTo>
                  <a:lnTo>
                    <a:pt x="593210" y="20546"/>
                  </a:lnTo>
                  <a:lnTo>
                    <a:pt x="549397" y="9284"/>
                  </a:lnTo>
                  <a:lnTo>
                    <a:pt x="504004" y="2359"/>
                  </a:lnTo>
                  <a:lnTo>
                    <a:pt x="457263" y="0"/>
                  </a:lnTo>
                  <a:close/>
                </a:path>
              </a:pathLst>
            </a:custGeom>
            <a:solidFill>
              <a:srgbClr val="0E1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14412" y="1700276"/>
              <a:ext cx="915035" cy="914400"/>
            </a:xfrm>
            <a:custGeom>
              <a:avLst/>
              <a:gdLst/>
              <a:ahLst/>
              <a:cxnLst/>
              <a:rect l="l" t="t" r="r" b="b"/>
              <a:pathLst>
                <a:path w="915035" h="914400">
                  <a:moveTo>
                    <a:pt x="0" y="457200"/>
                  </a:moveTo>
                  <a:lnTo>
                    <a:pt x="2360" y="410437"/>
                  </a:lnTo>
                  <a:lnTo>
                    <a:pt x="9288" y="365029"/>
                  </a:lnTo>
                  <a:lnTo>
                    <a:pt x="20555" y="321206"/>
                  </a:lnTo>
                  <a:lnTo>
                    <a:pt x="35930" y="279195"/>
                  </a:lnTo>
                  <a:lnTo>
                    <a:pt x="55184" y="239227"/>
                  </a:lnTo>
                  <a:lnTo>
                    <a:pt x="78086" y="201531"/>
                  </a:lnTo>
                  <a:lnTo>
                    <a:pt x="104408" y="166337"/>
                  </a:lnTo>
                  <a:lnTo>
                    <a:pt x="133919" y="133873"/>
                  </a:lnTo>
                  <a:lnTo>
                    <a:pt x="166390" y="104370"/>
                  </a:lnTo>
                  <a:lnTo>
                    <a:pt x="201592" y="78056"/>
                  </a:lnTo>
                  <a:lnTo>
                    <a:pt x="239293" y="55161"/>
                  </a:lnTo>
                  <a:lnTo>
                    <a:pt x="279265" y="35915"/>
                  </a:lnTo>
                  <a:lnTo>
                    <a:pt x="321277" y="20546"/>
                  </a:lnTo>
                  <a:lnTo>
                    <a:pt x="365101" y="9284"/>
                  </a:lnTo>
                  <a:lnTo>
                    <a:pt x="410506" y="2359"/>
                  </a:lnTo>
                  <a:lnTo>
                    <a:pt x="457263" y="0"/>
                  </a:lnTo>
                  <a:lnTo>
                    <a:pt x="504004" y="2359"/>
                  </a:lnTo>
                  <a:lnTo>
                    <a:pt x="549397" y="9284"/>
                  </a:lnTo>
                  <a:lnTo>
                    <a:pt x="593210" y="20546"/>
                  </a:lnTo>
                  <a:lnTo>
                    <a:pt x="635214" y="35915"/>
                  </a:lnTo>
                  <a:lnTo>
                    <a:pt x="675179" y="55161"/>
                  </a:lnTo>
                  <a:lnTo>
                    <a:pt x="712875" y="78056"/>
                  </a:lnTo>
                  <a:lnTo>
                    <a:pt x="748073" y="104370"/>
                  </a:lnTo>
                  <a:lnTo>
                    <a:pt x="780542" y="133873"/>
                  </a:lnTo>
                  <a:lnTo>
                    <a:pt x="810052" y="166337"/>
                  </a:lnTo>
                  <a:lnTo>
                    <a:pt x="836373" y="201531"/>
                  </a:lnTo>
                  <a:lnTo>
                    <a:pt x="859276" y="239227"/>
                  </a:lnTo>
                  <a:lnTo>
                    <a:pt x="878530" y="279195"/>
                  </a:lnTo>
                  <a:lnTo>
                    <a:pt x="893906" y="321206"/>
                  </a:lnTo>
                  <a:lnTo>
                    <a:pt x="905173" y="365029"/>
                  </a:lnTo>
                  <a:lnTo>
                    <a:pt x="912102" y="410437"/>
                  </a:lnTo>
                  <a:lnTo>
                    <a:pt x="914463" y="457200"/>
                  </a:lnTo>
                  <a:lnTo>
                    <a:pt x="912102" y="503941"/>
                  </a:lnTo>
                  <a:lnTo>
                    <a:pt x="905173" y="549333"/>
                  </a:lnTo>
                  <a:lnTo>
                    <a:pt x="893906" y="593146"/>
                  </a:lnTo>
                  <a:lnTo>
                    <a:pt x="878530" y="635150"/>
                  </a:lnTo>
                  <a:lnTo>
                    <a:pt x="859276" y="675116"/>
                  </a:lnTo>
                  <a:lnTo>
                    <a:pt x="836373" y="712812"/>
                  </a:lnTo>
                  <a:lnTo>
                    <a:pt x="810052" y="748009"/>
                  </a:lnTo>
                  <a:lnTo>
                    <a:pt x="780541" y="780478"/>
                  </a:lnTo>
                  <a:lnTo>
                    <a:pt x="748073" y="809988"/>
                  </a:lnTo>
                  <a:lnTo>
                    <a:pt x="712875" y="836309"/>
                  </a:lnTo>
                  <a:lnTo>
                    <a:pt x="675179" y="859212"/>
                  </a:lnTo>
                  <a:lnTo>
                    <a:pt x="635214" y="878466"/>
                  </a:lnTo>
                  <a:lnTo>
                    <a:pt x="593210" y="893842"/>
                  </a:lnTo>
                  <a:lnTo>
                    <a:pt x="549397" y="905110"/>
                  </a:lnTo>
                  <a:lnTo>
                    <a:pt x="504004" y="912039"/>
                  </a:lnTo>
                  <a:lnTo>
                    <a:pt x="457263" y="914400"/>
                  </a:lnTo>
                  <a:lnTo>
                    <a:pt x="410506" y="912039"/>
                  </a:lnTo>
                  <a:lnTo>
                    <a:pt x="365101" y="905110"/>
                  </a:lnTo>
                  <a:lnTo>
                    <a:pt x="321277" y="893842"/>
                  </a:lnTo>
                  <a:lnTo>
                    <a:pt x="279265" y="878466"/>
                  </a:lnTo>
                  <a:lnTo>
                    <a:pt x="239293" y="859212"/>
                  </a:lnTo>
                  <a:lnTo>
                    <a:pt x="201592" y="836309"/>
                  </a:lnTo>
                  <a:lnTo>
                    <a:pt x="166390" y="809988"/>
                  </a:lnTo>
                  <a:lnTo>
                    <a:pt x="133919" y="780478"/>
                  </a:lnTo>
                  <a:lnTo>
                    <a:pt x="104408" y="748009"/>
                  </a:lnTo>
                  <a:lnTo>
                    <a:pt x="78086" y="712812"/>
                  </a:lnTo>
                  <a:lnTo>
                    <a:pt x="55184" y="675116"/>
                  </a:lnTo>
                  <a:lnTo>
                    <a:pt x="35930" y="635150"/>
                  </a:lnTo>
                  <a:lnTo>
                    <a:pt x="20555" y="593146"/>
                  </a:lnTo>
                  <a:lnTo>
                    <a:pt x="9288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50800">
              <a:solidFill>
                <a:srgbClr val="F1F4F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6350" y="1962150"/>
              <a:ext cx="371475" cy="3714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09976" y="1700276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37" y="2359"/>
                  </a:lnTo>
                  <a:lnTo>
                    <a:pt x="365029" y="9284"/>
                  </a:lnTo>
                  <a:lnTo>
                    <a:pt x="321206" y="20546"/>
                  </a:lnTo>
                  <a:lnTo>
                    <a:pt x="279195" y="35915"/>
                  </a:lnTo>
                  <a:lnTo>
                    <a:pt x="239227" y="55161"/>
                  </a:lnTo>
                  <a:lnTo>
                    <a:pt x="201531" y="78056"/>
                  </a:lnTo>
                  <a:lnTo>
                    <a:pt x="166337" y="104370"/>
                  </a:lnTo>
                  <a:lnTo>
                    <a:pt x="133873" y="133873"/>
                  </a:lnTo>
                  <a:lnTo>
                    <a:pt x="104370" y="166337"/>
                  </a:lnTo>
                  <a:lnTo>
                    <a:pt x="78056" y="201531"/>
                  </a:lnTo>
                  <a:lnTo>
                    <a:pt x="55161" y="239227"/>
                  </a:lnTo>
                  <a:lnTo>
                    <a:pt x="35915" y="279195"/>
                  </a:lnTo>
                  <a:lnTo>
                    <a:pt x="20546" y="321206"/>
                  </a:lnTo>
                  <a:lnTo>
                    <a:pt x="9284" y="365029"/>
                  </a:lnTo>
                  <a:lnTo>
                    <a:pt x="2359" y="410437"/>
                  </a:lnTo>
                  <a:lnTo>
                    <a:pt x="0" y="457200"/>
                  </a:lnTo>
                  <a:lnTo>
                    <a:pt x="2359" y="503941"/>
                  </a:lnTo>
                  <a:lnTo>
                    <a:pt x="9284" y="549333"/>
                  </a:lnTo>
                  <a:lnTo>
                    <a:pt x="20546" y="593146"/>
                  </a:lnTo>
                  <a:lnTo>
                    <a:pt x="35915" y="635150"/>
                  </a:lnTo>
                  <a:lnTo>
                    <a:pt x="55161" y="675116"/>
                  </a:lnTo>
                  <a:lnTo>
                    <a:pt x="78056" y="712812"/>
                  </a:lnTo>
                  <a:lnTo>
                    <a:pt x="104370" y="748009"/>
                  </a:lnTo>
                  <a:lnTo>
                    <a:pt x="133873" y="780478"/>
                  </a:lnTo>
                  <a:lnTo>
                    <a:pt x="166337" y="809988"/>
                  </a:lnTo>
                  <a:lnTo>
                    <a:pt x="201531" y="836309"/>
                  </a:lnTo>
                  <a:lnTo>
                    <a:pt x="239227" y="859212"/>
                  </a:lnTo>
                  <a:lnTo>
                    <a:pt x="279195" y="878466"/>
                  </a:lnTo>
                  <a:lnTo>
                    <a:pt x="321206" y="893842"/>
                  </a:lnTo>
                  <a:lnTo>
                    <a:pt x="365029" y="905110"/>
                  </a:lnTo>
                  <a:lnTo>
                    <a:pt x="410437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37"/>
                  </a:lnTo>
                  <a:lnTo>
                    <a:pt x="905110" y="365029"/>
                  </a:lnTo>
                  <a:lnTo>
                    <a:pt x="893842" y="321206"/>
                  </a:lnTo>
                  <a:lnTo>
                    <a:pt x="878466" y="279195"/>
                  </a:lnTo>
                  <a:lnTo>
                    <a:pt x="859212" y="239227"/>
                  </a:lnTo>
                  <a:lnTo>
                    <a:pt x="836309" y="201531"/>
                  </a:lnTo>
                  <a:lnTo>
                    <a:pt x="809988" y="166337"/>
                  </a:lnTo>
                  <a:lnTo>
                    <a:pt x="780478" y="133873"/>
                  </a:lnTo>
                  <a:lnTo>
                    <a:pt x="748009" y="104370"/>
                  </a:lnTo>
                  <a:lnTo>
                    <a:pt x="712812" y="78056"/>
                  </a:lnTo>
                  <a:lnTo>
                    <a:pt x="675116" y="55161"/>
                  </a:lnTo>
                  <a:lnTo>
                    <a:pt x="635150" y="35915"/>
                  </a:lnTo>
                  <a:lnTo>
                    <a:pt x="593146" y="20546"/>
                  </a:lnTo>
                  <a:lnTo>
                    <a:pt x="549333" y="9284"/>
                  </a:lnTo>
                  <a:lnTo>
                    <a:pt x="503941" y="235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09976" y="1700276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37"/>
                  </a:lnTo>
                  <a:lnTo>
                    <a:pt x="9284" y="365029"/>
                  </a:lnTo>
                  <a:lnTo>
                    <a:pt x="20546" y="321206"/>
                  </a:lnTo>
                  <a:lnTo>
                    <a:pt x="35915" y="279195"/>
                  </a:lnTo>
                  <a:lnTo>
                    <a:pt x="55161" y="239227"/>
                  </a:lnTo>
                  <a:lnTo>
                    <a:pt x="78056" y="201531"/>
                  </a:lnTo>
                  <a:lnTo>
                    <a:pt x="104370" y="166337"/>
                  </a:lnTo>
                  <a:lnTo>
                    <a:pt x="133873" y="133873"/>
                  </a:lnTo>
                  <a:lnTo>
                    <a:pt x="166337" y="104370"/>
                  </a:lnTo>
                  <a:lnTo>
                    <a:pt x="201531" y="78056"/>
                  </a:lnTo>
                  <a:lnTo>
                    <a:pt x="239227" y="55161"/>
                  </a:lnTo>
                  <a:lnTo>
                    <a:pt x="279195" y="35915"/>
                  </a:lnTo>
                  <a:lnTo>
                    <a:pt x="321206" y="20546"/>
                  </a:lnTo>
                  <a:lnTo>
                    <a:pt x="365029" y="9284"/>
                  </a:lnTo>
                  <a:lnTo>
                    <a:pt x="410437" y="2359"/>
                  </a:lnTo>
                  <a:lnTo>
                    <a:pt x="457200" y="0"/>
                  </a:lnTo>
                  <a:lnTo>
                    <a:pt x="503941" y="2359"/>
                  </a:lnTo>
                  <a:lnTo>
                    <a:pt x="549333" y="9284"/>
                  </a:lnTo>
                  <a:lnTo>
                    <a:pt x="593146" y="20546"/>
                  </a:lnTo>
                  <a:lnTo>
                    <a:pt x="635150" y="35915"/>
                  </a:lnTo>
                  <a:lnTo>
                    <a:pt x="675116" y="55161"/>
                  </a:lnTo>
                  <a:lnTo>
                    <a:pt x="712812" y="78056"/>
                  </a:lnTo>
                  <a:lnTo>
                    <a:pt x="748009" y="104370"/>
                  </a:lnTo>
                  <a:lnTo>
                    <a:pt x="780478" y="133873"/>
                  </a:lnTo>
                  <a:lnTo>
                    <a:pt x="809988" y="166337"/>
                  </a:lnTo>
                  <a:lnTo>
                    <a:pt x="836309" y="201531"/>
                  </a:lnTo>
                  <a:lnTo>
                    <a:pt x="859212" y="239227"/>
                  </a:lnTo>
                  <a:lnTo>
                    <a:pt x="878466" y="279195"/>
                  </a:lnTo>
                  <a:lnTo>
                    <a:pt x="893842" y="321206"/>
                  </a:lnTo>
                  <a:lnTo>
                    <a:pt x="905110" y="365029"/>
                  </a:lnTo>
                  <a:lnTo>
                    <a:pt x="912039" y="410437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37" y="912039"/>
                  </a:lnTo>
                  <a:lnTo>
                    <a:pt x="365029" y="905110"/>
                  </a:lnTo>
                  <a:lnTo>
                    <a:pt x="321206" y="893842"/>
                  </a:lnTo>
                  <a:lnTo>
                    <a:pt x="279195" y="878466"/>
                  </a:lnTo>
                  <a:lnTo>
                    <a:pt x="239227" y="859212"/>
                  </a:lnTo>
                  <a:lnTo>
                    <a:pt x="201531" y="836309"/>
                  </a:lnTo>
                  <a:lnTo>
                    <a:pt x="166337" y="809988"/>
                  </a:lnTo>
                  <a:lnTo>
                    <a:pt x="133873" y="780478"/>
                  </a:lnTo>
                  <a:lnTo>
                    <a:pt x="104370" y="748009"/>
                  </a:lnTo>
                  <a:lnTo>
                    <a:pt x="78056" y="712812"/>
                  </a:lnTo>
                  <a:lnTo>
                    <a:pt x="55161" y="675116"/>
                  </a:lnTo>
                  <a:lnTo>
                    <a:pt x="35915" y="635150"/>
                  </a:lnTo>
                  <a:lnTo>
                    <a:pt x="20546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ln w="50800">
              <a:solidFill>
                <a:srgbClr val="F1F4F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1375" y="1962150"/>
              <a:ext cx="371475" cy="3714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5001" y="1700276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37" y="2359"/>
                  </a:lnTo>
                  <a:lnTo>
                    <a:pt x="365029" y="9284"/>
                  </a:lnTo>
                  <a:lnTo>
                    <a:pt x="321206" y="20546"/>
                  </a:lnTo>
                  <a:lnTo>
                    <a:pt x="279195" y="35915"/>
                  </a:lnTo>
                  <a:lnTo>
                    <a:pt x="239227" y="55161"/>
                  </a:lnTo>
                  <a:lnTo>
                    <a:pt x="201531" y="78056"/>
                  </a:lnTo>
                  <a:lnTo>
                    <a:pt x="166337" y="104370"/>
                  </a:lnTo>
                  <a:lnTo>
                    <a:pt x="133873" y="133873"/>
                  </a:lnTo>
                  <a:lnTo>
                    <a:pt x="104370" y="166337"/>
                  </a:lnTo>
                  <a:lnTo>
                    <a:pt x="78056" y="201531"/>
                  </a:lnTo>
                  <a:lnTo>
                    <a:pt x="55161" y="239227"/>
                  </a:lnTo>
                  <a:lnTo>
                    <a:pt x="35915" y="279195"/>
                  </a:lnTo>
                  <a:lnTo>
                    <a:pt x="20546" y="321206"/>
                  </a:lnTo>
                  <a:lnTo>
                    <a:pt x="9284" y="365029"/>
                  </a:lnTo>
                  <a:lnTo>
                    <a:pt x="2359" y="410437"/>
                  </a:lnTo>
                  <a:lnTo>
                    <a:pt x="0" y="457200"/>
                  </a:lnTo>
                  <a:lnTo>
                    <a:pt x="2359" y="503941"/>
                  </a:lnTo>
                  <a:lnTo>
                    <a:pt x="9284" y="549333"/>
                  </a:lnTo>
                  <a:lnTo>
                    <a:pt x="20546" y="593146"/>
                  </a:lnTo>
                  <a:lnTo>
                    <a:pt x="35915" y="635150"/>
                  </a:lnTo>
                  <a:lnTo>
                    <a:pt x="55161" y="675116"/>
                  </a:lnTo>
                  <a:lnTo>
                    <a:pt x="78056" y="712812"/>
                  </a:lnTo>
                  <a:lnTo>
                    <a:pt x="104370" y="748009"/>
                  </a:lnTo>
                  <a:lnTo>
                    <a:pt x="133873" y="780478"/>
                  </a:lnTo>
                  <a:lnTo>
                    <a:pt x="166337" y="809988"/>
                  </a:lnTo>
                  <a:lnTo>
                    <a:pt x="201531" y="836309"/>
                  </a:lnTo>
                  <a:lnTo>
                    <a:pt x="239227" y="859212"/>
                  </a:lnTo>
                  <a:lnTo>
                    <a:pt x="279195" y="878466"/>
                  </a:lnTo>
                  <a:lnTo>
                    <a:pt x="321206" y="893842"/>
                  </a:lnTo>
                  <a:lnTo>
                    <a:pt x="365029" y="905110"/>
                  </a:lnTo>
                  <a:lnTo>
                    <a:pt x="410437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37"/>
                  </a:lnTo>
                  <a:lnTo>
                    <a:pt x="905110" y="365029"/>
                  </a:lnTo>
                  <a:lnTo>
                    <a:pt x="893842" y="321206"/>
                  </a:lnTo>
                  <a:lnTo>
                    <a:pt x="878466" y="279195"/>
                  </a:lnTo>
                  <a:lnTo>
                    <a:pt x="859212" y="239227"/>
                  </a:lnTo>
                  <a:lnTo>
                    <a:pt x="836309" y="201531"/>
                  </a:lnTo>
                  <a:lnTo>
                    <a:pt x="809988" y="166337"/>
                  </a:lnTo>
                  <a:lnTo>
                    <a:pt x="780478" y="133873"/>
                  </a:lnTo>
                  <a:lnTo>
                    <a:pt x="748009" y="104370"/>
                  </a:lnTo>
                  <a:lnTo>
                    <a:pt x="712812" y="78056"/>
                  </a:lnTo>
                  <a:lnTo>
                    <a:pt x="675116" y="55161"/>
                  </a:lnTo>
                  <a:lnTo>
                    <a:pt x="635150" y="35915"/>
                  </a:lnTo>
                  <a:lnTo>
                    <a:pt x="593146" y="20546"/>
                  </a:lnTo>
                  <a:lnTo>
                    <a:pt x="549333" y="9284"/>
                  </a:lnTo>
                  <a:lnTo>
                    <a:pt x="503941" y="235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E1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215001" y="1700276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37"/>
                  </a:lnTo>
                  <a:lnTo>
                    <a:pt x="9284" y="365029"/>
                  </a:lnTo>
                  <a:lnTo>
                    <a:pt x="20546" y="321206"/>
                  </a:lnTo>
                  <a:lnTo>
                    <a:pt x="35915" y="279195"/>
                  </a:lnTo>
                  <a:lnTo>
                    <a:pt x="55161" y="239227"/>
                  </a:lnTo>
                  <a:lnTo>
                    <a:pt x="78056" y="201531"/>
                  </a:lnTo>
                  <a:lnTo>
                    <a:pt x="104370" y="166337"/>
                  </a:lnTo>
                  <a:lnTo>
                    <a:pt x="133873" y="133873"/>
                  </a:lnTo>
                  <a:lnTo>
                    <a:pt x="166337" y="104370"/>
                  </a:lnTo>
                  <a:lnTo>
                    <a:pt x="201531" y="78056"/>
                  </a:lnTo>
                  <a:lnTo>
                    <a:pt x="239227" y="55161"/>
                  </a:lnTo>
                  <a:lnTo>
                    <a:pt x="279195" y="35915"/>
                  </a:lnTo>
                  <a:lnTo>
                    <a:pt x="321206" y="20546"/>
                  </a:lnTo>
                  <a:lnTo>
                    <a:pt x="365029" y="9284"/>
                  </a:lnTo>
                  <a:lnTo>
                    <a:pt x="410437" y="2359"/>
                  </a:lnTo>
                  <a:lnTo>
                    <a:pt x="457200" y="0"/>
                  </a:lnTo>
                  <a:lnTo>
                    <a:pt x="503941" y="2359"/>
                  </a:lnTo>
                  <a:lnTo>
                    <a:pt x="549333" y="9284"/>
                  </a:lnTo>
                  <a:lnTo>
                    <a:pt x="593146" y="20546"/>
                  </a:lnTo>
                  <a:lnTo>
                    <a:pt x="635150" y="35915"/>
                  </a:lnTo>
                  <a:lnTo>
                    <a:pt x="675116" y="55161"/>
                  </a:lnTo>
                  <a:lnTo>
                    <a:pt x="712812" y="78056"/>
                  </a:lnTo>
                  <a:lnTo>
                    <a:pt x="748009" y="104370"/>
                  </a:lnTo>
                  <a:lnTo>
                    <a:pt x="780478" y="133873"/>
                  </a:lnTo>
                  <a:lnTo>
                    <a:pt x="809988" y="166337"/>
                  </a:lnTo>
                  <a:lnTo>
                    <a:pt x="836309" y="201531"/>
                  </a:lnTo>
                  <a:lnTo>
                    <a:pt x="859212" y="239227"/>
                  </a:lnTo>
                  <a:lnTo>
                    <a:pt x="878466" y="279195"/>
                  </a:lnTo>
                  <a:lnTo>
                    <a:pt x="893842" y="321206"/>
                  </a:lnTo>
                  <a:lnTo>
                    <a:pt x="905110" y="365029"/>
                  </a:lnTo>
                  <a:lnTo>
                    <a:pt x="912039" y="410437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37" y="912039"/>
                  </a:lnTo>
                  <a:lnTo>
                    <a:pt x="365029" y="905110"/>
                  </a:lnTo>
                  <a:lnTo>
                    <a:pt x="321206" y="893842"/>
                  </a:lnTo>
                  <a:lnTo>
                    <a:pt x="279195" y="878466"/>
                  </a:lnTo>
                  <a:lnTo>
                    <a:pt x="239227" y="859212"/>
                  </a:lnTo>
                  <a:lnTo>
                    <a:pt x="201531" y="836309"/>
                  </a:lnTo>
                  <a:lnTo>
                    <a:pt x="166337" y="809988"/>
                  </a:lnTo>
                  <a:lnTo>
                    <a:pt x="133873" y="780478"/>
                  </a:lnTo>
                  <a:lnTo>
                    <a:pt x="104370" y="748009"/>
                  </a:lnTo>
                  <a:lnTo>
                    <a:pt x="78056" y="712812"/>
                  </a:lnTo>
                  <a:lnTo>
                    <a:pt x="55161" y="675116"/>
                  </a:lnTo>
                  <a:lnTo>
                    <a:pt x="35915" y="635150"/>
                  </a:lnTo>
                  <a:lnTo>
                    <a:pt x="20546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ln w="50800">
              <a:solidFill>
                <a:srgbClr val="F1F4F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400" y="1962150"/>
              <a:ext cx="361950" cy="3714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20026" y="1700276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37" y="2359"/>
                  </a:lnTo>
                  <a:lnTo>
                    <a:pt x="365029" y="9284"/>
                  </a:lnTo>
                  <a:lnTo>
                    <a:pt x="321206" y="20546"/>
                  </a:lnTo>
                  <a:lnTo>
                    <a:pt x="279195" y="35915"/>
                  </a:lnTo>
                  <a:lnTo>
                    <a:pt x="239227" y="55161"/>
                  </a:lnTo>
                  <a:lnTo>
                    <a:pt x="201531" y="78056"/>
                  </a:lnTo>
                  <a:lnTo>
                    <a:pt x="166337" y="104370"/>
                  </a:lnTo>
                  <a:lnTo>
                    <a:pt x="133873" y="133873"/>
                  </a:lnTo>
                  <a:lnTo>
                    <a:pt x="104370" y="166337"/>
                  </a:lnTo>
                  <a:lnTo>
                    <a:pt x="78056" y="201531"/>
                  </a:lnTo>
                  <a:lnTo>
                    <a:pt x="55161" y="239227"/>
                  </a:lnTo>
                  <a:lnTo>
                    <a:pt x="35915" y="279195"/>
                  </a:lnTo>
                  <a:lnTo>
                    <a:pt x="20546" y="321206"/>
                  </a:lnTo>
                  <a:lnTo>
                    <a:pt x="9284" y="365029"/>
                  </a:lnTo>
                  <a:lnTo>
                    <a:pt x="2359" y="410437"/>
                  </a:lnTo>
                  <a:lnTo>
                    <a:pt x="0" y="457200"/>
                  </a:lnTo>
                  <a:lnTo>
                    <a:pt x="2359" y="503941"/>
                  </a:lnTo>
                  <a:lnTo>
                    <a:pt x="9284" y="549333"/>
                  </a:lnTo>
                  <a:lnTo>
                    <a:pt x="20546" y="593146"/>
                  </a:lnTo>
                  <a:lnTo>
                    <a:pt x="35915" y="635150"/>
                  </a:lnTo>
                  <a:lnTo>
                    <a:pt x="55161" y="675116"/>
                  </a:lnTo>
                  <a:lnTo>
                    <a:pt x="78056" y="712812"/>
                  </a:lnTo>
                  <a:lnTo>
                    <a:pt x="104370" y="748009"/>
                  </a:lnTo>
                  <a:lnTo>
                    <a:pt x="133873" y="780478"/>
                  </a:lnTo>
                  <a:lnTo>
                    <a:pt x="166337" y="809988"/>
                  </a:lnTo>
                  <a:lnTo>
                    <a:pt x="201531" y="836309"/>
                  </a:lnTo>
                  <a:lnTo>
                    <a:pt x="239227" y="859212"/>
                  </a:lnTo>
                  <a:lnTo>
                    <a:pt x="279195" y="878466"/>
                  </a:lnTo>
                  <a:lnTo>
                    <a:pt x="321206" y="893842"/>
                  </a:lnTo>
                  <a:lnTo>
                    <a:pt x="365029" y="905110"/>
                  </a:lnTo>
                  <a:lnTo>
                    <a:pt x="410437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37"/>
                  </a:lnTo>
                  <a:lnTo>
                    <a:pt x="905110" y="365029"/>
                  </a:lnTo>
                  <a:lnTo>
                    <a:pt x="893842" y="321206"/>
                  </a:lnTo>
                  <a:lnTo>
                    <a:pt x="878466" y="279195"/>
                  </a:lnTo>
                  <a:lnTo>
                    <a:pt x="859212" y="239227"/>
                  </a:lnTo>
                  <a:lnTo>
                    <a:pt x="836309" y="201531"/>
                  </a:lnTo>
                  <a:lnTo>
                    <a:pt x="809988" y="166337"/>
                  </a:lnTo>
                  <a:lnTo>
                    <a:pt x="780478" y="133873"/>
                  </a:lnTo>
                  <a:lnTo>
                    <a:pt x="748009" y="104370"/>
                  </a:lnTo>
                  <a:lnTo>
                    <a:pt x="712812" y="78056"/>
                  </a:lnTo>
                  <a:lnTo>
                    <a:pt x="675116" y="55161"/>
                  </a:lnTo>
                  <a:lnTo>
                    <a:pt x="635150" y="35915"/>
                  </a:lnTo>
                  <a:lnTo>
                    <a:pt x="593146" y="20546"/>
                  </a:lnTo>
                  <a:lnTo>
                    <a:pt x="549333" y="9284"/>
                  </a:lnTo>
                  <a:lnTo>
                    <a:pt x="503941" y="235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320026" y="1700276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37"/>
                  </a:lnTo>
                  <a:lnTo>
                    <a:pt x="9284" y="365029"/>
                  </a:lnTo>
                  <a:lnTo>
                    <a:pt x="20546" y="321206"/>
                  </a:lnTo>
                  <a:lnTo>
                    <a:pt x="35915" y="279195"/>
                  </a:lnTo>
                  <a:lnTo>
                    <a:pt x="55161" y="239227"/>
                  </a:lnTo>
                  <a:lnTo>
                    <a:pt x="78056" y="201531"/>
                  </a:lnTo>
                  <a:lnTo>
                    <a:pt x="104370" y="166337"/>
                  </a:lnTo>
                  <a:lnTo>
                    <a:pt x="133873" y="133873"/>
                  </a:lnTo>
                  <a:lnTo>
                    <a:pt x="166337" y="104370"/>
                  </a:lnTo>
                  <a:lnTo>
                    <a:pt x="201531" y="78056"/>
                  </a:lnTo>
                  <a:lnTo>
                    <a:pt x="239227" y="55161"/>
                  </a:lnTo>
                  <a:lnTo>
                    <a:pt x="279195" y="35915"/>
                  </a:lnTo>
                  <a:lnTo>
                    <a:pt x="321206" y="20546"/>
                  </a:lnTo>
                  <a:lnTo>
                    <a:pt x="365029" y="9284"/>
                  </a:lnTo>
                  <a:lnTo>
                    <a:pt x="410437" y="2359"/>
                  </a:lnTo>
                  <a:lnTo>
                    <a:pt x="457200" y="0"/>
                  </a:lnTo>
                  <a:lnTo>
                    <a:pt x="503941" y="2359"/>
                  </a:lnTo>
                  <a:lnTo>
                    <a:pt x="549333" y="9284"/>
                  </a:lnTo>
                  <a:lnTo>
                    <a:pt x="593146" y="20546"/>
                  </a:lnTo>
                  <a:lnTo>
                    <a:pt x="635150" y="35915"/>
                  </a:lnTo>
                  <a:lnTo>
                    <a:pt x="675116" y="55161"/>
                  </a:lnTo>
                  <a:lnTo>
                    <a:pt x="712812" y="78056"/>
                  </a:lnTo>
                  <a:lnTo>
                    <a:pt x="748009" y="104370"/>
                  </a:lnTo>
                  <a:lnTo>
                    <a:pt x="780478" y="133873"/>
                  </a:lnTo>
                  <a:lnTo>
                    <a:pt x="809988" y="166337"/>
                  </a:lnTo>
                  <a:lnTo>
                    <a:pt x="836309" y="201531"/>
                  </a:lnTo>
                  <a:lnTo>
                    <a:pt x="859212" y="239227"/>
                  </a:lnTo>
                  <a:lnTo>
                    <a:pt x="878466" y="279195"/>
                  </a:lnTo>
                  <a:lnTo>
                    <a:pt x="893842" y="321206"/>
                  </a:lnTo>
                  <a:lnTo>
                    <a:pt x="905110" y="365029"/>
                  </a:lnTo>
                  <a:lnTo>
                    <a:pt x="912039" y="410437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37" y="912039"/>
                  </a:lnTo>
                  <a:lnTo>
                    <a:pt x="365029" y="905110"/>
                  </a:lnTo>
                  <a:lnTo>
                    <a:pt x="321206" y="893842"/>
                  </a:lnTo>
                  <a:lnTo>
                    <a:pt x="279195" y="878466"/>
                  </a:lnTo>
                  <a:lnTo>
                    <a:pt x="239227" y="859212"/>
                  </a:lnTo>
                  <a:lnTo>
                    <a:pt x="201531" y="836309"/>
                  </a:lnTo>
                  <a:lnTo>
                    <a:pt x="166337" y="809988"/>
                  </a:lnTo>
                  <a:lnTo>
                    <a:pt x="133873" y="780478"/>
                  </a:lnTo>
                  <a:lnTo>
                    <a:pt x="104370" y="748009"/>
                  </a:lnTo>
                  <a:lnTo>
                    <a:pt x="78056" y="712812"/>
                  </a:lnTo>
                  <a:lnTo>
                    <a:pt x="55161" y="675116"/>
                  </a:lnTo>
                  <a:lnTo>
                    <a:pt x="35915" y="635150"/>
                  </a:lnTo>
                  <a:lnTo>
                    <a:pt x="20546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ln w="50800">
              <a:solidFill>
                <a:srgbClr val="F1F4F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1425" y="1962150"/>
              <a:ext cx="361950" cy="37147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95947" y="2787692"/>
            <a:ext cx="1739264" cy="14262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R="16510">
              <a:lnSpc>
                <a:spcPct val="100000"/>
              </a:lnSpc>
              <a:spcBef>
                <a:spcPts val="420"/>
              </a:spcBef>
            </a:pP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P</a:t>
            </a:r>
            <a:r>
              <a:rPr dirty="0" sz="1100" spc="-2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H</a:t>
            </a:r>
            <a:r>
              <a:rPr dirty="0" sz="1100" spc="-6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spc="80" b="1">
                <a:solidFill>
                  <a:srgbClr val="F5A622"/>
                </a:solidFill>
                <a:latin typeface="Calibri"/>
                <a:cs typeface="Calibri"/>
              </a:rPr>
              <a:t>AS</a:t>
            </a:r>
            <a:r>
              <a:rPr dirty="0" sz="1100" spc="-3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E</a:t>
            </a:r>
            <a:r>
              <a:rPr dirty="0" sz="1100" spc="42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0</a:t>
            </a:r>
            <a:r>
              <a:rPr dirty="0" sz="1100" spc="-7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F5A622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algn="ctr" marL="172720" marR="170180">
              <a:lnSpc>
                <a:spcPct val="100000"/>
              </a:lnSpc>
              <a:spcBef>
                <a:spcPts val="400"/>
              </a:spcBef>
            </a:pPr>
            <a:r>
              <a:rPr dirty="0" sz="1500" b="1">
                <a:solidFill>
                  <a:srgbClr val="0E1B3C"/>
                </a:solidFill>
                <a:latin typeface="Cambria"/>
                <a:cs typeface="Cambria"/>
              </a:rPr>
              <a:t>Data</a:t>
            </a:r>
            <a:r>
              <a:rPr dirty="0" sz="1500" spc="-40" b="1">
                <a:solidFill>
                  <a:srgbClr val="0E1B3C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0E1B3C"/>
                </a:solidFill>
                <a:latin typeface="Cambria"/>
                <a:cs typeface="Cambria"/>
              </a:rPr>
              <a:t>Cleaning</a:t>
            </a:r>
            <a:r>
              <a:rPr dirty="0" sz="1500" spc="-80" b="1">
                <a:solidFill>
                  <a:srgbClr val="0E1B3C"/>
                </a:solidFill>
                <a:latin typeface="Cambria"/>
                <a:cs typeface="Cambria"/>
              </a:rPr>
              <a:t> </a:t>
            </a:r>
            <a:r>
              <a:rPr dirty="0" sz="1500" spc="-50" b="1">
                <a:solidFill>
                  <a:srgbClr val="0E1B3C"/>
                </a:solidFill>
                <a:latin typeface="Cambria"/>
                <a:cs typeface="Cambria"/>
              </a:rPr>
              <a:t>&amp; </a:t>
            </a:r>
            <a:r>
              <a:rPr dirty="0" sz="1500" spc="-10" b="1">
                <a:solidFill>
                  <a:srgbClr val="0E1B3C"/>
                </a:solidFill>
                <a:latin typeface="Cambria"/>
                <a:cs typeface="Cambria"/>
              </a:rPr>
              <a:t>Exploration</a:t>
            </a:r>
            <a:endParaRPr sz="1500">
              <a:latin typeface="Cambria"/>
              <a:cs typeface="Cambria"/>
            </a:endParaRPr>
          </a:p>
          <a:p>
            <a:pPr algn="ctr" marL="12065" marR="5080">
              <a:lnSpc>
                <a:spcPts val="1430"/>
              </a:lnSpc>
              <a:spcBef>
                <a:spcPts val="1145"/>
              </a:spcBef>
            </a:pP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Cleaned</a:t>
            </a:r>
            <a:r>
              <a:rPr dirty="0" sz="1200" spc="-3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and</a:t>
            </a:r>
            <a:r>
              <a:rPr dirty="0" sz="12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structured</a:t>
            </a:r>
            <a:r>
              <a:rPr dirty="0" sz="12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B6382"/>
                </a:solidFill>
                <a:latin typeface="Calibri"/>
                <a:cs typeface="Calibri"/>
              </a:rPr>
              <a:t>raw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sales</a:t>
            </a:r>
            <a:r>
              <a:rPr dirty="0" sz="12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data;</a:t>
            </a:r>
            <a:r>
              <a:rPr dirty="0" sz="1200" spc="-2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explored</a:t>
            </a:r>
            <a:r>
              <a:rPr dirty="0" sz="1200" spc="-3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initial patterns.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06751" y="2787692"/>
            <a:ext cx="1727200" cy="16167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R="15875">
              <a:lnSpc>
                <a:spcPct val="100000"/>
              </a:lnSpc>
              <a:spcBef>
                <a:spcPts val="420"/>
              </a:spcBef>
            </a:pP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P</a:t>
            </a:r>
            <a:r>
              <a:rPr dirty="0" sz="1100" spc="-2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H</a:t>
            </a:r>
            <a:r>
              <a:rPr dirty="0" sz="1100" spc="-6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spc="80" b="1">
                <a:solidFill>
                  <a:srgbClr val="F5A622"/>
                </a:solidFill>
                <a:latin typeface="Calibri"/>
                <a:cs typeface="Calibri"/>
              </a:rPr>
              <a:t>AS</a:t>
            </a:r>
            <a:r>
              <a:rPr dirty="0" sz="1100" spc="-3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E</a:t>
            </a:r>
            <a:r>
              <a:rPr dirty="0" sz="1100" spc="42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0</a:t>
            </a:r>
            <a:r>
              <a:rPr dirty="0" sz="1100" spc="-7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F5A622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400"/>
              </a:spcBef>
            </a:pPr>
            <a:r>
              <a:rPr dirty="0" sz="1500" b="1">
                <a:solidFill>
                  <a:srgbClr val="0E1B3C"/>
                </a:solidFill>
                <a:latin typeface="Cambria"/>
                <a:cs typeface="Cambria"/>
              </a:rPr>
              <a:t>Dashboard</a:t>
            </a:r>
            <a:r>
              <a:rPr dirty="0" sz="1500" spc="-75" b="1">
                <a:solidFill>
                  <a:srgbClr val="0E1B3C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0E1B3C"/>
                </a:solidFill>
                <a:latin typeface="Cambria"/>
                <a:cs typeface="Cambria"/>
              </a:rPr>
              <a:t>&amp;</a:t>
            </a:r>
            <a:r>
              <a:rPr dirty="0" sz="1500" spc="-70" b="1">
                <a:solidFill>
                  <a:srgbClr val="0E1B3C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0E1B3C"/>
                </a:solidFill>
                <a:latin typeface="Cambria"/>
                <a:cs typeface="Cambria"/>
              </a:rPr>
              <a:t>Deep-</a:t>
            </a:r>
            <a:r>
              <a:rPr dirty="0" sz="1500" spc="-20" b="1">
                <a:solidFill>
                  <a:srgbClr val="0E1B3C"/>
                </a:solidFill>
                <a:latin typeface="Cambria"/>
                <a:cs typeface="Cambria"/>
              </a:rPr>
              <a:t>Dive</a:t>
            </a:r>
            <a:endParaRPr sz="1500">
              <a:latin typeface="Cambria"/>
              <a:cs typeface="Cambria"/>
            </a:endParaRPr>
          </a:p>
          <a:p>
            <a:pPr algn="ctr" marL="92710" marR="90170">
              <a:lnSpc>
                <a:spcPct val="100899"/>
              </a:lnSpc>
              <a:spcBef>
                <a:spcPts val="1075"/>
              </a:spcBef>
            </a:pP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Defined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KPIs,</a:t>
            </a:r>
            <a:r>
              <a:rPr dirty="0" sz="1200" spc="-4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segmented customers,</a:t>
            </a:r>
            <a:r>
              <a:rPr dirty="0" sz="1200" spc="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built</a:t>
            </a:r>
            <a:r>
              <a:rPr dirty="0" sz="1200" spc="-25">
                <a:solidFill>
                  <a:srgbClr val="5B6382"/>
                </a:solidFill>
                <a:latin typeface="Calibri"/>
                <a:cs typeface="Calibri"/>
              </a:rPr>
              <a:t> an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interactive</a:t>
            </a:r>
            <a:r>
              <a:rPr dirty="0" sz="1200" spc="-5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Power</a:t>
            </a:r>
            <a:r>
              <a:rPr dirty="0" sz="1200" spc="-3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B6382"/>
                </a:solidFill>
                <a:latin typeface="Calibri"/>
                <a:cs typeface="Calibri"/>
              </a:rPr>
              <a:t>BI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dashboard.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59071" y="2787692"/>
            <a:ext cx="1835150" cy="5137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R="17145">
              <a:lnSpc>
                <a:spcPct val="100000"/>
              </a:lnSpc>
              <a:spcBef>
                <a:spcPts val="420"/>
              </a:spcBef>
            </a:pP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P</a:t>
            </a:r>
            <a:r>
              <a:rPr dirty="0" sz="1100" spc="-2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H</a:t>
            </a:r>
            <a:r>
              <a:rPr dirty="0" sz="1100" spc="-6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spc="80" b="1">
                <a:solidFill>
                  <a:srgbClr val="F5A622"/>
                </a:solidFill>
                <a:latin typeface="Calibri"/>
                <a:cs typeface="Calibri"/>
              </a:rPr>
              <a:t>AS</a:t>
            </a:r>
            <a:r>
              <a:rPr dirty="0" sz="1100" spc="-3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E</a:t>
            </a:r>
            <a:r>
              <a:rPr dirty="0" sz="1100" spc="42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0</a:t>
            </a:r>
            <a:r>
              <a:rPr dirty="0" sz="1100" spc="-7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F5A622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1500" spc="-10" b="1">
                <a:solidFill>
                  <a:srgbClr val="0E1B3C"/>
                </a:solidFill>
                <a:latin typeface="Cambria"/>
                <a:cs typeface="Cambria"/>
              </a:rPr>
              <a:t>Statistical</a:t>
            </a:r>
            <a:r>
              <a:rPr dirty="0" sz="1500" spc="5" b="1">
                <a:solidFill>
                  <a:srgbClr val="0E1B3C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0E1B3C"/>
                </a:solidFill>
                <a:latin typeface="Cambria"/>
                <a:cs typeface="Cambria"/>
              </a:rPr>
              <a:t>Validation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35144" y="3642042"/>
            <a:ext cx="1680845" cy="5715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 indent="289560">
              <a:lnSpc>
                <a:spcPts val="1430"/>
              </a:lnSpc>
              <a:spcBef>
                <a:spcPts val="155"/>
              </a:spcBef>
            </a:pPr>
            <a:r>
              <a:rPr dirty="0" sz="1200" spc="-20">
                <a:solidFill>
                  <a:srgbClr val="5B6382"/>
                </a:solidFill>
                <a:latin typeface="Calibri"/>
                <a:cs typeface="Calibri"/>
              </a:rPr>
              <a:t>Tested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a</a:t>
            </a:r>
            <a:r>
              <a:rPr dirty="0" sz="1200" spc="-3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business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hypothesis</a:t>
            </a:r>
            <a:r>
              <a:rPr dirty="0" sz="1200" spc="-2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with</a:t>
            </a:r>
            <a:r>
              <a:rPr dirty="0" sz="1200" spc="-2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a</a:t>
            </a:r>
            <a:r>
              <a:rPr dirty="0" sz="1200" spc="1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B6382"/>
                </a:solidFill>
                <a:latin typeface="Calibri"/>
                <a:cs typeface="Calibri"/>
              </a:rPr>
              <a:t>T-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test</a:t>
            </a:r>
            <a:r>
              <a:rPr dirty="0" sz="12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B6382"/>
                </a:solidFill>
                <a:latin typeface="Calibri"/>
                <a:cs typeface="Calibri"/>
              </a:rPr>
              <a:t>to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confirm</a:t>
            </a:r>
            <a:r>
              <a:rPr dirty="0" sz="1200" spc="-1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findings</a:t>
            </a:r>
            <a:r>
              <a:rPr dirty="0" sz="1200" spc="-4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were</a:t>
            </a:r>
            <a:r>
              <a:rPr dirty="0" sz="1200" spc="-2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B6382"/>
                </a:solidFill>
                <a:latin typeface="Calibri"/>
                <a:cs typeface="Calibri"/>
              </a:rPr>
              <a:t>real.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18070" y="2787692"/>
            <a:ext cx="1724025" cy="14262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R="13335">
              <a:lnSpc>
                <a:spcPct val="100000"/>
              </a:lnSpc>
              <a:spcBef>
                <a:spcPts val="420"/>
              </a:spcBef>
            </a:pP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P</a:t>
            </a:r>
            <a:r>
              <a:rPr dirty="0" sz="1100" spc="-2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H</a:t>
            </a:r>
            <a:r>
              <a:rPr dirty="0" sz="1100" spc="-6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spc="80" b="1">
                <a:solidFill>
                  <a:srgbClr val="F5A622"/>
                </a:solidFill>
                <a:latin typeface="Calibri"/>
                <a:cs typeface="Calibri"/>
              </a:rPr>
              <a:t>AS</a:t>
            </a:r>
            <a:r>
              <a:rPr dirty="0" sz="1100" spc="-3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E</a:t>
            </a:r>
            <a:r>
              <a:rPr dirty="0" sz="1100" spc="42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5A622"/>
                </a:solidFill>
                <a:latin typeface="Calibri"/>
                <a:cs typeface="Calibri"/>
              </a:rPr>
              <a:t>0</a:t>
            </a:r>
            <a:r>
              <a:rPr dirty="0" sz="1100" spc="-7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F5A622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  <a:p>
            <a:pPr algn="ctr" marL="259079" marR="248920">
              <a:lnSpc>
                <a:spcPct val="100000"/>
              </a:lnSpc>
              <a:spcBef>
                <a:spcPts val="400"/>
              </a:spcBef>
            </a:pPr>
            <a:r>
              <a:rPr dirty="0" sz="1500" spc="-10" b="1">
                <a:solidFill>
                  <a:srgbClr val="0E1B3C"/>
                </a:solidFill>
                <a:latin typeface="Cambria"/>
                <a:cs typeface="Cambria"/>
              </a:rPr>
              <a:t>Storytelling</a:t>
            </a:r>
            <a:r>
              <a:rPr dirty="0" sz="1500" spc="15" b="1">
                <a:solidFill>
                  <a:srgbClr val="0E1B3C"/>
                </a:solidFill>
                <a:latin typeface="Cambria"/>
                <a:cs typeface="Cambria"/>
              </a:rPr>
              <a:t> </a:t>
            </a:r>
            <a:r>
              <a:rPr dirty="0" sz="1500" spc="-50" b="1">
                <a:solidFill>
                  <a:srgbClr val="0E1B3C"/>
                </a:solidFill>
                <a:latin typeface="Cambria"/>
                <a:cs typeface="Cambria"/>
              </a:rPr>
              <a:t>&amp; </a:t>
            </a:r>
            <a:r>
              <a:rPr dirty="0" sz="1500" spc="-10" b="1">
                <a:solidFill>
                  <a:srgbClr val="0E1B3C"/>
                </a:solidFill>
                <a:latin typeface="Cambria"/>
                <a:cs typeface="Cambria"/>
              </a:rPr>
              <a:t>Portfolio</a:t>
            </a:r>
            <a:endParaRPr sz="1500">
              <a:latin typeface="Cambria"/>
              <a:cs typeface="Cambria"/>
            </a:endParaRPr>
          </a:p>
          <a:p>
            <a:pPr algn="ctr" marL="12700" marR="5080">
              <a:lnSpc>
                <a:spcPts val="1430"/>
              </a:lnSpc>
              <a:spcBef>
                <a:spcPts val="1145"/>
              </a:spcBef>
            </a:pP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Synthesized</a:t>
            </a:r>
            <a:r>
              <a:rPr dirty="0" sz="1200" spc="-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everything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B6382"/>
                </a:solidFill>
                <a:latin typeface="Calibri"/>
                <a:cs typeface="Calibri"/>
              </a:rPr>
              <a:t>into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a</a:t>
            </a:r>
            <a:r>
              <a:rPr dirty="0" sz="1200" spc="1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stakeholder-</a:t>
            </a:r>
            <a:r>
              <a:rPr dirty="0" sz="1200" spc="-20">
                <a:solidFill>
                  <a:srgbClr val="5B6382"/>
                </a:solidFill>
                <a:latin typeface="Calibri"/>
                <a:cs typeface="Calibri"/>
              </a:rPr>
              <a:t>ready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narrative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 and</a:t>
            </a:r>
            <a:r>
              <a:rPr dirty="0" sz="1200" spc="-2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382"/>
                </a:solidFill>
                <a:latin typeface="Calibri"/>
                <a:cs typeface="Calibri"/>
              </a:rPr>
              <a:t>this</a:t>
            </a:r>
            <a:r>
              <a:rPr dirty="0" sz="1200" spc="-1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382"/>
                </a:solidFill>
                <a:latin typeface="Calibri"/>
                <a:cs typeface="Calibri"/>
              </a:rPr>
              <a:t>portfolio.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E1B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6575" y="104879"/>
            <a:ext cx="3353435" cy="1181100"/>
          </a:xfrm>
          <a:prstGeom prst="rect"/>
        </p:spPr>
        <p:txBody>
          <a:bodyPr wrap="square" lIns="0" tIns="279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dirty="0">
                <a:solidFill>
                  <a:srgbClr val="FFFFFF"/>
                </a:solidFill>
              </a:rPr>
              <a:t>Key</a:t>
            </a:r>
            <a:r>
              <a:rPr dirty="0" spc="-11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Results</a:t>
            </a: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500" b="0">
                <a:solidFill>
                  <a:srgbClr val="A9B4D5"/>
                </a:solidFill>
                <a:latin typeface="Calibri"/>
                <a:cs typeface="Calibri"/>
              </a:rPr>
              <a:t>The</a:t>
            </a:r>
            <a:r>
              <a:rPr dirty="0" sz="1500" spc="-10" b="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A9B4D5"/>
                </a:solidFill>
                <a:latin typeface="Calibri"/>
                <a:cs typeface="Calibri"/>
              </a:rPr>
              <a:t>headline</a:t>
            </a:r>
            <a:r>
              <a:rPr dirty="0" sz="1500" spc="-10" b="0">
                <a:solidFill>
                  <a:srgbClr val="A9B4D5"/>
                </a:solidFill>
                <a:latin typeface="Calibri"/>
                <a:cs typeface="Calibri"/>
              </a:rPr>
              <a:t> numbers</a:t>
            </a:r>
            <a:r>
              <a:rPr dirty="0" sz="1500" spc="-65" b="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A9B4D5"/>
                </a:solidFill>
                <a:latin typeface="Calibri"/>
                <a:cs typeface="Calibri"/>
              </a:rPr>
              <a:t>from</a:t>
            </a:r>
            <a:r>
              <a:rPr dirty="0" sz="1500" spc="-15" b="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A9B4D5"/>
                </a:solidFill>
                <a:latin typeface="Calibri"/>
                <a:cs typeface="Calibri"/>
              </a:rPr>
              <a:t>the</a:t>
            </a:r>
            <a:r>
              <a:rPr dirty="0" sz="1500" spc="-5" b="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500" b="0">
                <a:solidFill>
                  <a:srgbClr val="A9B4D5"/>
                </a:solidFill>
                <a:latin typeface="Calibri"/>
                <a:cs typeface="Calibri"/>
              </a:rPr>
              <a:t>full</a:t>
            </a:r>
            <a:r>
              <a:rPr dirty="0" sz="1500" spc="-50" b="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500" spc="-10" b="0">
                <a:solidFill>
                  <a:srgbClr val="A9B4D5"/>
                </a:solidFill>
                <a:latin typeface="Calibri"/>
                <a:cs typeface="Calibri"/>
              </a:rPr>
              <a:t>project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0862" y="1598675"/>
            <a:ext cx="4032885" cy="1841500"/>
            <a:chOff x="550862" y="1598675"/>
            <a:chExt cx="4032885" cy="1841500"/>
          </a:xfrm>
        </p:grpSpPr>
        <p:sp>
          <p:nvSpPr>
            <p:cNvPr id="5" name="object 5"/>
            <p:cNvSpPr/>
            <p:nvPr/>
          </p:nvSpPr>
          <p:spPr>
            <a:xfrm>
              <a:off x="557212" y="1605025"/>
              <a:ext cx="4020185" cy="1828800"/>
            </a:xfrm>
            <a:custGeom>
              <a:avLst/>
              <a:gdLst/>
              <a:ahLst/>
              <a:cxnLst/>
              <a:rect l="l" t="t" r="r" b="b"/>
              <a:pathLst>
                <a:path w="4020185" h="1828800">
                  <a:moveTo>
                    <a:pt x="3909758" y="0"/>
                  </a:moveTo>
                  <a:lnTo>
                    <a:pt x="109728" y="0"/>
                  </a:lnTo>
                  <a:lnTo>
                    <a:pt x="67015" y="8608"/>
                  </a:lnTo>
                  <a:lnTo>
                    <a:pt x="32137" y="32099"/>
                  </a:lnTo>
                  <a:lnTo>
                    <a:pt x="8622" y="66972"/>
                  </a:lnTo>
                  <a:lnTo>
                    <a:pt x="0" y="109727"/>
                  </a:lnTo>
                  <a:lnTo>
                    <a:pt x="0" y="1718945"/>
                  </a:lnTo>
                  <a:lnTo>
                    <a:pt x="8622" y="1761700"/>
                  </a:lnTo>
                  <a:lnTo>
                    <a:pt x="32137" y="1796573"/>
                  </a:lnTo>
                  <a:lnTo>
                    <a:pt x="67015" y="1820064"/>
                  </a:lnTo>
                  <a:lnTo>
                    <a:pt x="109728" y="1828673"/>
                  </a:lnTo>
                  <a:lnTo>
                    <a:pt x="3909758" y="1828673"/>
                  </a:lnTo>
                  <a:lnTo>
                    <a:pt x="3952533" y="1820064"/>
                  </a:lnTo>
                  <a:lnTo>
                    <a:pt x="3987450" y="1796573"/>
                  </a:lnTo>
                  <a:lnTo>
                    <a:pt x="4010985" y="1761700"/>
                  </a:lnTo>
                  <a:lnTo>
                    <a:pt x="4019613" y="1718945"/>
                  </a:lnTo>
                  <a:lnTo>
                    <a:pt x="4019613" y="109727"/>
                  </a:lnTo>
                  <a:lnTo>
                    <a:pt x="4010985" y="66972"/>
                  </a:lnTo>
                  <a:lnTo>
                    <a:pt x="3987450" y="32099"/>
                  </a:lnTo>
                  <a:lnTo>
                    <a:pt x="3952533" y="8608"/>
                  </a:lnTo>
                  <a:lnTo>
                    <a:pt x="3909758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57212" y="1605025"/>
              <a:ext cx="4020185" cy="1828800"/>
            </a:xfrm>
            <a:custGeom>
              <a:avLst/>
              <a:gdLst/>
              <a:ahLst/>
              <a:cxnLst/>
              <a:rect l="l" t="t" r="r" b="b"/>
              <a:pathLst>
                <a:path w="4020185" h="1828800">
                  <a:moveTo>
                    <a:pt x="0" y="109727"/>
                  </a:moveTo>
                  <a:lnTo>
                    <a:pt x="8622" y="66972"/>
                  </a:lnTo>
                  <a:lnTo>
                    <a:pt x="32137" y="32099"/>
                  </a:lnTo>
                  <a:lnTo>
                    <a:pt x="67015" y="8608"/>
                  </a:lnTo>
                  <a:lnTo>
                    <a:pt x="109728" y="0"/>
                  </a:lnTo>
                  <a:lnTo>
                    <a:pt x="3909758" y="0"/>
                  </a:lnTo>
                  <a:lnTo>
                    <a:pt x="3952533" y="8608"/>
                  </a:lnTo>
                  <a:lnTo>
                    <a:pt x="3987450" y="32099"/>
                  </a:lnTo>
                  <a:lnTo>
                    <a:pt x="4010985" y="66972"/>
                  </a:lnTo>
                  <a:lnTo>
                    <a:pt x="4019613" y="109727"/>
                  </a:lnTo>
                  <a:lnTo>
                    <a:pt x="4019613" y="1718945"/>
                  </a:lnTo>
                  <a:lnTo>
                    <a:pt x="4010985" y="1761700"/>
                  </a:lnTo>
                  <a:lnTo>
                    <a:pt x="3987450" y="1796573"/>
                  </a:lnTo>
                  <a:lnTo>
                    <a:pt x="3952533" y="1820064"/>
                  </a:lnTo>
                  <a:lnTo>
                    <a:pt x="3909758" y="1828673"/>
                  </a:lnTo>
                  <a:lnTo>
                    <a:pt x="109728" y="1828673"/>
                  </a:lnTo>
                  <a:lnTo>
                    <a:pt x="67015" y="1820064"/>
                  </a:lnTo>
                  <a:lnTo>
                    <a:pt x="32137" y="1796573"/>
                  </a:lnTo>
                  <a:lnTo>
                    <a:pt x="8622" y="1761700"/>
                  </a:lnTo>
                  <a:lnTo>
                    <a:pt x="0" y="1718945"/>
                  </a:lnTo>
                  <a:lnTo>
                    <a:pt x="0" y="109727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65492" y="1857946"/>
            <a:ext cx="2948305" cy="1237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0" spc="-10" b="1">
                <a:solidFill>
                  <a:srgbClr val="0E1B3C"/>
                </a:solidFill>
                <a:latin typeface="Cambria"/>
                <a:cs typeface="Cambria"/>
              </a:rPr>
              <a:t>₹139.40M</a:t>
            </a:r>
            <a:endParaRPr sz="5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dirty="0" sz="1500" spc="-25" b="1">
                <a:solidFill>
                  <a:srgbClr val="0E1B3C"/>
                </a:solidFill>
                <a:latin typeface="Calibri"/>
                <a:cs typeface="Calibri"/>
              </a:rPr>
              <a:t>Total</a:t>
            </a:r>
            <a:r>
              <a:rPr dirty="0" sz="1500" spc="-40" b="1">
                <a:solidFill>
                  <a:srgbClr val="0E1B3C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E1B3C"/>
                </a:solidFill>
                <a:latin typeface="Calibri"/>
                <a:cs typeface="Calibri"/>
              </a:rPr>
              <a:t>Revenue</a:t>
            </a:r>
            <a:r>
              <a:rPr dirty="0" sz="1500" spc="-50" b="1">
                <a:solidFill>
                  <a:srgbClr val="0E1B3C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E1B3C"/>
                </a:solidFill>
                <a:latin typeface="Calibri"/>
                <a:cs typeface="Calibri"/>
              </a:rPr>
              <a:t>Analyzed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99076" y="1598675"/>
            <a:ext cx="3803650" cy="831850"/>
            <a:chOff x="4799076" y="1598675"/>
            <a:chExt cx="3803650" cy="831850"/>
          </a:xfrm>
        </p:grpSpPr>
        <p:sp>
          <p:nvSpPr>
            <p:cNvPr id="9" name="object 9"/>
            <p:cNvSpPr/>
            <p:nvPr/>
          </p:nvSpPr>
          <p:spPr>
            <a:xfrm>
              <a:off x="4805426" y="1605025"/>
              <a:ext cx="3790950" cy="819150"/>
            </a:xfrm>
            <a:custGeom>
              <a:avLst/>
              <a:gdLst/>
              <a:ahLst/>
              <a:cxnLst/>
              <a:rect l="l" t="t" r="r" b="b"/>
              <a:pathLst>
                <a:path w="3790950" h="819150">
                  <a:moveTo>
                    <a:pt x="3681729" y="0"/>
                  </a:moveTo>
                  <a:lnTo>
                    <a:pt x="109093" y="0"/>
                  </a:lnTo>
                  <a:lnTo>
                    <a:pt x="66651" y="8580"/>
                  </a:lnTo>
                  <a:lnTo>
                    <a:pt x="31972" y="31972"/>
                  </a:lnTo>
                  <a:lnTo>
                    <a:pt x="8580" y="66651"/>
                  </a:lnTo>
                  <a:lnTo>
                    <a:pt x="0" y="109093"/>
                  </a:lnTo>
                  <a:lnTo>
                    <a:pt x="0" y="709930"/>
                  </a:lnTo>
                  <a:lnTo>
                    <a:pt x="8580" y="752391"/>
                  </a:lnTo>
                  <a:lnTo>
                    <a:pt x="31972" y="787114"/>
                  </a:lnTo>
                  <a:lnTo>
                    <a:pt x="66651" y="810549"/>
                  </a:lnTo>
                  <a:lnTo>
                    <a:pt x="109093" y="819150"/>
                  </a:lnTo>
                  <a:lnTo>
                    <a:pt x="3681729" y="819150"/>
                  </a:lnTo>
                  <a:lnTo>
                    <a:pt x="3724191" y="810549"/>
                  </a:lnTo>
                  <a:lnTo>
                    <a:pt x="3758914" y="787114"/>
                  </a:lnTo>
                  <a:lnTo>
                    <a:pt x="3782349" y="752391"/>
                  </a:lnTo>
                  <a:lnTo>
                    <a:pt x="3790950" y="709930"/>
                  </a:lnTo>
                  <a:lnTo>
                    <a:pt x="3790950" y="109093"/>
                  </a:lnTo>
                  <a:lnTo>
                    <a:pt x="3782349" y="66651"/>
                  </a:lnTo>
                  <a:lnTo>
                    <a:pt x="3758914" y="31972"/>
                  </a:lnTo>
                  <a:lnTo>
                    <a:pt x="3724191" y="8580"/>
                  </a:lnTo>
                  <a:lnTo>
                    <a:pt x="3681729" y="0"/>
                  </a:lnTo>
                  <a:close/>
                </a:path>
              </a:pathLst>
            </a:custGeom>
            <a:solidFill>
              <a:srgbClr val="1C2B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805426" y="1605025"/>
              <a:ext cx="3790950" cy="819150"/>
            </a:xfrm>
            <a:custGeom>
              <a:avLst/>
              <a:gdLst/>
              <a:ahLst/>
              <a:cxnLst/>
              <a:rect l="l" t="t" r="r" b="b"/>
              <a:pathLst>
                <a:path w="3790950" h="819150">
                  <a:moveTo>
                    <a:pt x="0" y="109093"/>
                  </a:moveTo>
                  <a:lnTo>
                    <a:pt x="8580" y="66651"/>
                  </a:lnTo>
                  <a:lnTo>
                    <a:pt x="31972" y="31972"/>
                  </a:lnTo>
                  <a:lnTo>
                    <a:pt x="66651" y="8580"/>
                  </a:lnTo>
                  <a:lnTo>
                    <a:pt x="109093" y="0"/>
                  </a:lnTo>
                  <a:lnTo>
                    <a:pt x="3681729" y="0"/>
                  </a:lnTo>
                  <a:lnTo>
                    <a:pt x="3724191" y="8580"/>
                  </a:lnTo>
                  <a:lnTo>
                    <a:pt x="3758914" y="31972"/>
                  </a:lnTo>
                  <a:lnTo>
                    <a:pt x="3782349" y="66651"/>
                  </a:lnTo>
                  <a:lnTo>
                    <a:pt x="3790950" y="109093"/>
                  </a:lnTo>
                  <a:lnTo>
                    <a:pt x="3790950" y="709930"/>
                  </a:lnTo>
                  <a:lnTo>
                    <a:pt x="3782349" y="752391"/>
                  </a:lnTo>
                  <a:lnTo>
                    <a:pt x="3758914" y="787114"/>
                  </a:lnTo>
                  <a:lnTo>
                    <a:pt x="3724191" y="810549"/>
                  </a:lnTo>
                  <a:lnTo>
                    <a:pt x="3681729" y="819150"/>
                  </a:lnTo>
                  <a:lnTo>
                    <a:pt x="109093" y="819150"/>
                  </a:lnTo>
                  <a:lnTo>
                    <a:pt x="66651" y="810549"/>
                  </a:lnTo>
                  <a:lnTo>
                    <a:pt x="31972" y="787114"/>
                  </a:lnTo>
                  <a:lnTo>
                    <a:pt x="8580" y="752391"/>
                  </a:lnTo>
                  <a:lnTo>
                    <a:pt x="0" y="709930"/>
                  </a:lnTo>
                  <a:lnTo>
                    <a:pt x="0" y="109093"/>
                  </a:lnTo>
                  <a:close/>
                </a:path>
              </a:pathLst>
            </a:custGeom>
            <a:ln w="12700">
              <a:solidFill>
                <a:srgbClr val="1C2B5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021579" y="1800225"/>
            <a:ext cx="943610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-10" b="1">
                <a:solidFill>
                  <a:srgbClr val="F5A622"/>
                </a:solidFill>
                <a:latin typeface="Cambria"/>
                <a:cs typeface="Cambria"/>
              </a:rPr>
              <a:t>46.8%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52284" y="1810385"/>
            <a:ext cx="1256665" cy="38989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Revenue Share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99076" y="2608326"/>
            <a:ext cx="3803650" cy="831850"/>
            <a:chOff x="4799076" y="2608326"/>
            <a:chExt cx="3803650" cy="831850"/>
          </a:xfrm>
        </p:grpSpPr>
        <p:sp>
          <p:nvSpPr>
            <p:cNvPr id="14" name="object 14"/>
            <p:cNvSpPr/>
            <p:nvPr/>
          </p:nvSpPr>
          <p:spPr>
            <a:xfrm>
              <a:off x="4805426" y="2614676"/>
              <a:ext cx="3790950" cy="819150"/>
            </a:xfrm>
            <a:custGeom>
              <a:avLst/>
              <a:gdLst/>
              <a:ahLst/>
              <a:cxnLst/>
              <a:rect l="l" t="t" r="r" b="b"/>
              <a:pathLst>
                <a:path w="3790950" h="819150">
                  <a:moveTo>
                    <a:pt x="3681729" y="0"/>
                  </a:moveTo>
                  <a:lnTo>
                    <a:pt x="109093" y="0"/>
                  </a:lnTo>
                  <a:lnTo>
                    <a:pt x="66651" y="8580"/>
                  </a:lnTo>
                  <a:lnTo>
                    <a:pt x="31972" y="31972"/>
                  </a:lnTo>
                  <a:lnTo>
                    <a:pt x="8580" y="66651"/>
                  </a:lnTo>
                  <a:lnTo>
                    <a:pt x="0" y="109093"/>
                  </a:lnTo>
                  <a:lnTo>
                    <a:pt x="0" y="709930"/>
                  </a:lnTo>
                  <a:lnTo>
                    <a:pt x="8580" y="752391"/>
                  </a:lnTo>
                  <a:lnTo>
                    <a:pt x="31972" y="787114"/>
                  </a:lnTo>
                  <a:lnTo>
                    <a:pt x="66651" y="810549"/>
                  </a:lnTo>
                  <a:lnTo>
                    <a:pt x="109093" y="819150"/>
                  </a:lnTo>
                  <a:lnTo>
                    <a:pt x="3681729" y="819150"/>
                  </a:lnTo>
                  <a:lnTo>
                    <a:pt x="3724191" y="810549"/>
                  </a:lnTo>
                  <a:lnTo>
                    <a:pt x="3758914" y="787114"/>
                  </a:lnTo>
                  <a:lnTo>
                    <a:pt x="3782349" y="752391"/>
                  </a:lnTo>
                  <a:lnTo>
                    <a:pt x="3790950" y="709930"/>
                  </a:lnTo>
                  <a:lnTo>
                    <a:pt x="3790950" y="109093"/>
                  </a:lnTo>
                  <a:lnTo>
                    <a:pt x="3782349" y="66651"/>
                  </a:lnTo>
                  <a:lnTo>
                    <a:pt x="3758914" y="31972"/>
                  </a:lnTo>
                  <a:lnTo>
                    <a:pt x="3724191" y="8580"/>
                  </a:lnTo>
                  <a:lnTo>
                    <a:pt x="3681729" y="0"/>
                  </a:lnTo>
                  <a:close/>
                </a:path>
              </a:pathLst>
            </a:custGeom>
            <a:solidFill>
              <a:srgbClr val="1C2B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05426" y="2614676"/>
              <a:ext cx="3790950" cy="819150"/>
            </a:xfrm>
            <a:custGeom>
              <a:avLst/>
              <a:gdLst/>
              <a:ahLst/>
              <a:cxnLst/>
              <a:rect l="l" t="t" r="r" b="b"/>
              <a:pathLst>
                <a:path w="3790950" h="819150">
                  <a:moveTo>
                    <a:pt x="0" y="109093"/>
                  </a:moveTo>
                  <a:lnTo>
                    <a:pt x="8580" y="66651"/>
                  </a:lnTo>
                  <a:lnTo>
                    <a:pt x="31972" y="31972"/>
                  </a:lnTo>
                  <a:lnTo>
                    <a:pt x="66651" y="8580"/>
                  </a:lnTo>
                  <a:lnTo>
                    <a:pt x="109093" y="0"/>
                  </a:lnTo>
                  <a:lnTo>
                    <a:pt x="3681729" y="0"/>
                  </a:lnTo>
                  <a:lnTo>
                    <a:pt x="3724191" y="8580"/>
                  </a:lnTo>
                  <a:lnTo>
                    <a:pt x="3758914" y="31972"/>
                  </a:lnTo>
                  <a:lnTo>
                    <a:pt x="3782349" y="66651"/>
                  </a:lnTo>
                  <a:lnTo>
                    <a:pt x="3790950" y="109093"/>
                  </a:lnTo>
                  <a:lnTo>
                    <a:pt x="3790950" y="709930"/>
                  </a:lnTo>
                  <a:lnTo>
                    <a:pt x="3782349" y="752391"/>
                  </a:lnTo>
                  <a:lnTo>
                    <a:pt x="3758914" y="787114"/>
                  </a:lnTo>
                  <a:lnTo>
                    <a:pt x="3724191" y="810549"/>
                  </a:lnTo>
                  <a:lnTo>
                    <a:pt x="3681729" y="819150"/>
                  </a:lnTo>
                  <a:lnTo>
                    <a:pt x="109093" y="819150"/>
                  </a:lnTo>
                  <a:lnTo>
                    <a:pt x="66651" y="810549"/>
                  </a:lnTo>
                  <a:lnTo>
                    <a:pt x="31972" y="787114"/>
                  </a:lnTo>
                  <a:lnTo>
                    <a:pt x="8580" y="752391"/>
                  </a:lnTo>
                  <a:lnTo>
                    <a:pt x="0" y="709930"/>
                  </a:lnTo>
                  <a:lnTo>
                    <a:pt x="0" y="109093"/>
                  </a:lnTo>
                  <a:close/>
                </a:path>
              </a:pathLst>
            </a:custGeom>
            <a:ln w="12700">
              <a:solidFill>
                <a:srgbClr val="1C2B5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021579" y="2807969"/>
            <a:ext cx="1685289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b="1">
                <a:solidFill>
                  <a:srgbClr val="F5A622"/>
                </a:solidFill>
                <a:latin typeface="Cambria"/>
                <a:cs typeface="Cambria"/>
              </a:rPr>
              <a:t>p</a:t>
            </a:r>
            <a:r>
              <a:rPr dirty="0" sz="2400" spc="-25" b="1">
                <a:solidFill>
                  <a:srgbClr val="F5A622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F5A622"/>
                </a:solidFill>
                <a:latin typeface="Cambria"/>
                <a:cs typeface="Cambria"/>
              </a:rPr>
              <a:t>&lt;</a:t>
            </a:r>
            <a:r>
              <a:rPr dirty="0" sz="2400" spc="-20" b="1">
                <a:solidFill>
                  <a:srgbClr val="F5A622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F5A622"/>
                </a:solidFill>
                <a:latin typeface="Cambria"/>
                <a:cs typeface="Cambria"/>
              </a:rPr>
              <a:t>0.00001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52284" y="2909252"/>
            <a:ext cx="11455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T-test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Significance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6575" y="3724275"/>
            <a:ext cx="7667625" cy="4629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dirty="0" sz="1400" b="1">
                <a:solidFill>
                  <a:srgbClr val="F5A622"/>
                </a:solidFill>
                <a:latin typeface="Calibri"/>
                <a:cs typeface="Calibri"/>
              </a:rPr>
              <a:t>Core finding:</a:t>
            </a:r>
            <a:r>
              <a:rPr dirty="0" sz="1400" spc="-20" b="1">
                <a:solidFill>
                  <a:srgbClr val="F5A62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Value</a:t>
            </a:r>
            <a:r>
              <a:rPr dirty="0" sz="1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dirty="0" sz="1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segment,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though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minority</a:t>
            </a:r>
            <a:r>
              <a:rPr dirty="0" sz="1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count,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statistically</a:t>
            </a: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drives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largest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share of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revenue.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Confirmed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via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T-test</a:t>
            </a:r>
            <a:r>
              <a:rPr dirty="0" sz="1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(T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42.43),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making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the top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priority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 retention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strategy.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87"/>
            <a:ext cx="3032125" cy="5151755"/>
            <a:chOff x="-1586" y="-1587"/>
            <a:chExt cx="3032125" cy="5151755"/>
          </a:xfrm>
        </p:grpSpPr>
        <p:sp>
          <p:nvSpPr>
            <p:cNvPr id="3" name="object 3"/>
            <p:cNvSpPr/>
            <p:nvPr/>
          </p:nvSpPr>
          <p:spPr>
            <a:xfrm>
              <a:off x="4763" y="4762"/>
              <a:ext cx="3019425" cy="5139055"/>
            </a:xfrm>
            <a:custGeom>
              <a:avLst/>
              <a:gdLst/>
              <a:ahLst/>
              <a:cxnLst/>
              <a:rect l="l" t="t" r="r" b="b"/>
              <a:pathLst>
                <a:path w="3019425" h="5139055">
                  <a:moveTo>
                    <a:pt x="3019425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3019425" y="5138737"/>
                  </a:lnTo>
                  <a:lnTo>
                    <a:pt x="3019425" y="0"/>
                  </a:lnTo>
                  <a:close/>
                </a:path>
              </a:pathLst>
            </a:custGeom>
            <a:solidFill>
              <a:srgbClr val="0E1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763" y="4762"/>
              <a:ext cx="3019425" cy="5139055"/>
            </a:xfrm>
            <a:custGeom>
              <a:avLst/>
              <a:gdLst/>
              <a:ahLst/>
              <a:cxnLst/>
              <a:rect l="l" t="t" r="r" b="b"/>
              <a:pathLst>
                <a:path w="3019425" h="5139055">
                  <a:moveTo>
                    <a:pt x="3019425" y="5138737"/>
                  </a:moveTo>
                  <a:lnTo>
                    <a:pt x="3019425" y="0"/>
                  </a:ln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0E1B3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3427476" y="550926"/>
            <a:ext cx="2574925" cy="1289050"/>
            <a:chOff x="3427476" y="550926"/>
            <a:chExt cx="2574925" cy="1289050"/>
          </a:xfrm>
        </p:grpSpPr>
        <p:sp>
          <p:nvSpPr>
            <p:cNvPr id="8" name="object 8"/>
            <p:cNvSpPr/>
            <p:nvPr/>
          </p:nvSpPr>
          <p:spPr>
            <a:xfrm>
              <a:off x="3433826" y="557276"/>
              <a:ext cx="2562225" cy="1276350"/>
            </a:xfrm>
            <a:custGeom>
              <a:avLst/>
              <a:gdLst/>
              <a:ahLst/>
              <a:cxnLst/>
              <a:rect l="l" t="t" r="r" b="b"/>
              <a:pathLst>
                <a:path w="2562225" h="1276350">
                  <a:moveTo>
                    <a:pt x="2471039" y="0"/>
                  </a:moveTo>
                  <a:lnTo>
                    <a:pt x="91059" y="0"/>
                  </a:lnTo>
                  <a:lnTo>
                    <a:pt x="55614" y="7155"/>
                  </a:lnTo>
                  <a:lnTo>
                    <a:pt x="26670" y="26669"/>
                  </a:lnTo>
                  <a:lnTo>
                    <a:pt x="7155" y="55614"/>
                  </a:lnTo>
                  <a:lnTo>
                    <a:pt x="0" y="91059"/>
                  </a:lnTo>
                  <a:lnTo>
                    <a:pt x="0" y="1185164"/>
                  </a:lnTo>
                  <a:lnTo>
                    <a:pt x="7155" y="1220628"/>
                  </a:lnTo>
                  <a:lnTo>
                    <a:pt x="26669" y="1249616"/>
                  </a:lnTo>
                  <a:lnTo>
                    <a:pt x="55614" y="1269174"/>
                  </a:lnTo>
                  <a:lnTo>
                    <a:pt x="91059" y="1276350"/>
                  </a:lnTo>
                  <a:lnTo>
                    <a:pt x="2471039" y="1276350"/>
                  </a:lnTo>
                  <a:lnTo>
                    <a:pt x="2506503" y="1269174"/>
                  </a:lnTo>
                  <a:lnTo>
                    <a:pt x="2535491" y="1249616"/>
                  </a:lnTo>
                  <a:lnTo>
                    <a:pt x="2555049" y="1220628"/>
                  </a:lnTo>
                  <a:lnTo>
                    <a:pt x="2562225" y="1185164"/>
                  </a:lnTo>
                  <a:lnTo>
                    <a:pt x="2562225" y="91059"/>
                  </a:lnTo>
                  <a:lnTo>
                    <a:pt x="2555049" y="55614"/>
                  </a:lnTo>
                  <a:lnTo>
                    <a:pt x="2535491" y="26670"/>
                  </a:lnTo>
                  <a:lnTo>
                    <a:pt x="2506503" y="7155"/>
                  </a:lnTo>
                  <a:lnTo>
                    <a:pt x="2471039" y="0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433826" y="557276"/>
              <a:ext cx="2562225" cy="1276350"/>
            </a:xfrm>
            <a:custGeom>
              <a:avLst/>
              <a:gdLst/>
              <a:ahLst/>
              <a:cxnLst/>
              <a:rect l="l" t="t" r="r" b="b"/>
              <a:pathLst>
                <a:path w="2562225" h="1276350">
                  <a:moveTo>
                    <a:pt x="0" y="91059"/>
                  </a:moveTo>
                  <a:lnTo>
                    <a:pt x="7155" y="55614"/>
                  </a:lnTo>
                  <a:lnTo>
                    <a:pt x="26670" y="26669"/>
                  </a:lnTo>
                  <a:lnTo>
                    <a:pt x="55614" y="7155"/>
                  </a:lnTo>
                  <a:lnTo>
                    <a:pt x="91059" y="0"/>
                  </a:lnTo>
                  <a:lnTo>
                    <a:pt x="2471039" y="0"/>
                  </a:lnTo>
                  <a:lnTo>
                    <a:pt x="2506503" y="7155"/>
                  </a:lnTo>
                  <a:lnTo>
                    <a:pt x="2535491" y="26670"/>
                  </a:lnTo>
                  <a:lnTo>
                    <a:pt x="2555049" y="55614"/>
                  </a:lnTo>
                  <a:lnTo>
                    <a:pt x="2562225" y="91059"/>
                  </a:lnTo>
                  <a:lnTo>
                    <a:pt x="2562225" y="1185164"/>
                  </a:lnTo>
                  <a:lnTo>
                    <a:pt x="2555049" y="1220628"/>
                  </a:lnTo>
                  <a:lnTo>
                    <a:pt x="2535491" y="1249616"/>
                  </a:lnTo>
                  <a:lnTo>
                    <a:pt x="2506503" y="1269174"/>
                  </a:lnTo>
                  <a:lnTo>
                    <a:pt x="2471039" y="1276350"/>
                  </a:lnTo>
                  <a:lnTo>
                    <a:pt x="91059" y="1276350"/>
                  </a:lnTo>
                  <a:lnTo>
                    <a:pt x="55614" y="1269174"/>
                  </a:lnTo>
                  <a:lnTo>
                    <a:pt x="26669" y="1249616"/>
                  </a:lnTo>
                  <a:lnTo>
                    <a:pt x="7155" y="1220628"/>
                  </a:lnTo>
                  <a:lnTo>
                    <a:pt x="0" y="1185164"/>
                  </a:lnTo>
                  <a:lnTo>
                    <a:pt x="0" y="91059"/>
                  </a:lnTo>
                  <a:close/>
                </a:path>
              </a:pathLst>
            </a:custGeom>
            <a:ln w="12700">
              <a:solidFill>
                <a:srgbClr val="F1F4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614801" y="7382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14801" y="7382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847725"/>
              <a:ext cx="219075" cy="219075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197984" y="832802"/>
            <a:ext cx="1127125" cy="24320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/>
              <a:t>Data</a:t>
            </a:r>
            <a:r>
              <a:rPr dirty="0" sz="1400" spc="-45"/>
              <a:t> </a:t>
            </a:r>
            <a:r>
              <a:rPr dirty="0" sz="1400" spc="-10"/>
              <a:t>Analysis</a:t>
            </a:r>
            <a:endParaRPr sz="1400"/>
          </a:p>
        </p:txBody>
      </p:sp>
      <p:sp>
        <p:nvSpPr>
          <p:cNvPr id="14" name="object 14"/>
          <p:cNvSpPr txBox="1"/>
          <p:nvPr/>
        </p:nvSpPr>
        <p:spPr>
          <a:xfrm>
            <a:off x="3602990" y="1260157"/>
            <a:ext cx="2155825" cy="3594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00"/>
              </a:spcBef>
            </a:pP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Python</a:t>
            </a:r>
            <a:r>
              <a:rPr dirty="0" sz="1100" spc="-2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(pandas,</a:t>
            </a:r>
            <a:r>
              <a:rPr dirty="0" sz="1100" spc="-1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scipy),</a:t>
            </a:r>
            <a:r>
              <a:rPr dirty="0" sz="1100" spc="-10">
                <a:solidFill>
                  <a:srgbClr val="5B6382"/>
                </a:solidFill>
                <a:latin typeface="Calibri"/>
                <a:cs typeface="Calibri"/>
              </a:rPr>
              <a:t> data</a:t>
            </a:r>
            <a:r>
              <a:rPr dirty="0" sz="1100" spc="-5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382"/>
                </a:solidFill>
                <a:latin typeface="Calibri"/>
                <a:cs typeface="Calibri"/>
              </a:rPr>
              <a:t>cleaning,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KPI</a:t>
            </a:r>
            <a:r>
              <a:rPr dirty="0" sz="11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382"/>
                </a:solidFill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70676" y="550926"/>
            <a:ext cx="2574925" cy="1289050"/>
            <a:chOff x="6170676" y="550926"/>
            <a:chExt cx="2574925" cy="1289050"/>
          </a:xfrm>
        </p:grpSpPr>
        <p:sp>
          <p:nvSpPr>
            <p:cNvPr id="16" name="object 16"/>
            <p:cNvSpPr/>
            <p:nvPr/>
          </p:nvSpPr>
          <p:spPr>
            <a:xfrm>
              <a:off x="6177026" y="557276"/>
              <a:ext cx="2562225" cy="1276350"/>
            </a:xfrm>
            <a:custGeom>
              <a:avLst/>
              <a:gdLst/>
              <a:ahLst/>
              <a:cxnLst/>
              <a:rect l="l" t="t" r="r" b="b"/>
              <a:pathLst>
                <a:path w="2562225" h="1276350">
                  <a:moveTo>
                    <a:pt x="2471039" y="0"/>
                  </a:moveTo>
                  <a:lnTo>
                    <a:pt x="91059" y="0"/>
                  </a:lnTo>
                  <a:lnTo>
                    <a:pt x="55614" y="7155"/>
                  </a:lnTo>
                  <a:lnTo>
                    <a:pt x="26670" y="26669"/>
                  </a:lnTo>
                  <a:lnTo>
                    <a:pt x="7155" y="55614"/>
                  </a:lnTo>
                  <a:lnTo>
                    <a:pt x="0" y="91059"/>
                  </a:lnTo>
                  <a:lnTo>
                    <a:pt x="0" y="1185164"/>
                  </a:lnTo>
                  <a:lnTo>
                    <a:pt x="7155" y="1220628"/>
                  </a:lnTo>
                  <a:lnTo>
                    <a:pt x="26669" y="1249616"/>
                  </a:lnTo>
                  <a:lnTo>
                    <a:pt x="55614" y="1269174"/>
                  </a:lnTo>
                  <a:lnTo>
                    <a:pt x="91059" y="1276350"/>
                  </a:lnTo>
                  <a:lnTo>
                    <a:pt x="2471039" y="1276350"/>
                  </a:lnTo>
                  <a:lnTo>
                    <a:pt x="2506503" y="1269174"/>
                  </a:lnTo>
                  <a:lnTo>
                    <a:pt x="2535491" y="1249616"/>
                  </a:lnTo>
                  <a:lnTo>
                    <a:pt x="2555049" y="1220628"/>
                  </a:lnTo>
                  <a:lnTo>
                    <a:pt x="2562225" y="1185164"/>
                  </a:lnTo>
                  <a:lnTo>
                    <a:pt x="2562225" y="91059"/>
                  </a:lnTo>
                  <a:lnTo>
                    <a:pt x="2555049" y="55614"/>
                  </a:lnTo>
                  <a:lnTo>
                    <a:pt x="2535491" y="26670"/>
                  </a:lnTo>
                  <a:lnTo>
                    <a:pt x="2506503" y="7155"/>
                  </a:lnTo>
                  <a:lnTo>
                    <a:pt x="2471039" y="0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77026" y="557276"/>
              <a:ext cx="2562225" cy="1276350"/>
            </a:xfrm>
            <a:custGeom>
              <a:avLst/>
              <a:gdLst/>
              <a:ahLst/>
              <a:cxnLst/>
              <a:rect l="l" t="t" r="r" b="b"/>
              <a:pathLst>
                <a:path w="2562225" h="1276350">
                  <a:moveTo>
                    <a:pt x="0" y="91059"/>
                  </a:moveTo>
                  <a:lnTo>
                    <a:pt x="7155" y="55614"/>
                  </a:lnTo>
                  <a:lnTo>
                    <a:pt x="26670" y="26669"/>
                  </a:lnTo>
                  <a:lnTo>
                    <a:pt x="55614" y="7155"/>
                  </a:lnTo>
                  <a:lnTo>
                    <a:pt x="91059" y="0"/>
                  </a:lnTo>
                  <a:lnTo>
                    <a:pt x="2471039" y="0"/>
                  </a:lnTo>
                  <a:lnTo>
                    <a:pt x="2506503" y="7155"/>
                  </a:lnTo>
                  <a:lnTo>
                    <a:pt x="2535491" y="26670"/>
                  </a:lnTo>
                  <a:lnTo>
                    <a:pt x="2555049" y="55614"/>
                  </a:lnTo>
                  <a:lnTo>
                    <a:pt x="2562225" y="91059"/>
                  </a:lnTo>
                  <a:lnTo>
                    <a:pt x="2562225" y="1185164"/>
                  </a:lnTo>
                  <a:lnTo>
                    <a:pt x="2555049" y="1220628"/>
                  </a:lnTo>
                  <a:lnTo>
                    <a:pt x="2535491" y="1249616"/>
                  </a:lnTo>
                  <a:lnTo>
                    <a:pt x="2506503" y="1269174"/>
                  </a:lnTo>
                  <a:lnTo>
                    <a:pt x="2471039" y="1276350"/>
                  </a:lnTo>
                  <a:lnTo>
                    <a:pt x="91059" y="1276350"/>
                  </a:lnTo>
                  <a:lnTo>
                    <a:pt x="55614" y="1269174"/>
                  </a:lnTo>
                  <a:lnTo>
                    <a:pt x="26669" y="1249616"/>
                  </a:lnTo>
                  <a:lnTo>
                    <a:pt x="7155" y="1220628"/>
                  </a:lnTo>
                  <a:lnTo>
                    <a:pt x="0" y="1185164"/>
                  </a:lnTo>
                  <a:lnTo>
                    <a:pt x="0" y="91059"/>
                  </a:lnTo>
                  <a:close/>
                </a:path>
              </a:pathLst>
            </a:custGeom>
            <a:ln w="12700">
              <a:solidFill>
                <a:srgbClr val="F1F4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58001" y="7382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358001" y="7382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0" y="847725"/>
              <a:ext cx="219075" cy="21907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943979" y="832802"/>
            <a:ext cx="109664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1">
                <a:solidFill>
                  <a:srgbClr val="0E1B3C"/>
                </a:solidFill>
                <a:latin typeface="Cambria"/>
                <a:cs typeface="Cambria"/>
              </a:rPr>
              <a:t>Visualization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48984" y="1260157"/>
            <a:ext cx="2253615" cy="3594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00"/>
              </a:spcBef>
            </a:pP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Power</a:t>
            </a:r>
            <a:r>
              <a:rPr dirty="0" sz="1100" spc="-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BI,</a:t>
            </a:r>
            <a:r>
              <a:rPr dirty="0" sz="11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interactive</a:t>
            </a:r>
            <a:r>
              <a:rPr dirty="0" sz="1100" spc="-6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dashboards,</a:t>
            </a:r>
            <a:r>
              <a:rPr dirty="0" sz="11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5B6382"/>
                </a:solidFill>
                <a:latin typeface="Calibri"/>
                <a:cs typeface="Calibri"/>
              </a:rPr>
              <a:t>chart </a:t>
            </a:r>
            <a:r>
              <a:rPr dirty="0" sz="1100" spc="-10">
                <a:solidFill>
                  <a:srgbClr val="5B6382"/>
                </a:solidFill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134" y="1535049"/>
            <a:ext cx="2195830" cy="80835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 marR="5080">
              <a:lnSpc>
                <a:spcPts val="3010"/>
              </a:lnSpc>
              <a:spcBef>
                <a:spcPts val="320"/>
              </a:spcBef>
            </a:pPr>
            <a:r>
              <a:rPr dirty="0" sz="2600" spc="-10" b="1">
                <a:solidFill>
                  <a:srgbClr val="FFFFFF"/>
                </a:solidFill>
                <a:latin typeface="Cambria"/>
                <a:cs typeface="Cambria"/>
              </a:rPr>
              <a:t>Skills </a:t>
            </a:r>
            <a:r>
              <a:rPr dirty="0" sz="2600" spc="-20" b="1">
                <a:solidFill>
                  <a:srgbClr val="FFFFFF"/>
                </a:solidFill>
                <a:latin typeface="Cambria"/>
                <a:cs typeface="Cambria"/>
              </a:rPr>
              <a:t>Demonstrated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5134" y="3001391"/>
            <a:ext cx="2017395" cy="420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A9B4D5"/>
                </a:solidFill>
                <a:latin typeface="Calibri"/>
                <a:cs typeface="Calibri"/>
              </a:rPr>
              <a:t>Six</a:t>
            </a:r>
            <a:r>
              <a:rPr dirty="0" sz="1250" spc="114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A9B4D5"/>
                </a:solidFill>
                <a:latin typeface="Calibri"/>
                <a:cs typeface="Calibri"/>
              </a:rPr>
              <a:t>skills</a:t>
            </a:r>
            <a:r>
              <a:rPr dirty="0" sz="1250" spc="9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A9B4D5"/>
                </a:solidFill>
                <a:latin typeface="Calibri"/>
                <a:cs typeface="Calibri"/>
              </a:rPr>
              <a:t>built</a:t>
            </a:r>
            <a:r>
              <a:rPr dirty="0" sz="1250" spc="9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A9B4D5"/>
                </a:solidFill>
                <a:latin typeface="Calibri"/>
                <a:cs typeface="Calibri"/>
              </a:rPr>
              <a:t>and</a:t>
            </a:r>
            <a:r>
              <a:rPr dirty="0" sz="1250" spc="6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A9B4D5"/>
                </a:solidFill>
                <a:latin typeface="Calibri"/>
                <a:cs typeface="Calibri"/>
              </a:rPr>
              <a:t>used</a:t>
            </a:r>
            <a:r>
              <a:rPr dirty="0" sz="1250" spc="6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A9B4D5"/>
                </a:solidFill>
                <a:latin typeface="Calibri"/>
                <a:cs typeface="Calibri"/>
              </a:rPr>
              <a:t>across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250">
                <a:solidFill>
                  <a:srgbClr val="A9B4D5"/>
                </a:solidFill>
                <a:latin typeface="Calibri"/>
                <a:cs typeface="Calibri"/>
              </a:rPr>
              <a:t>the</a:t>
            </a:r>
            <a:r>
              <a:rPr dirty="0" sz="1250" spc="70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A9B4D5"/>
                </a:solidFill>
                <a:latin typeface="Calibri"/>
                <a:cs typeface="Calibri"/>
              </a:rPr>
              <a:t>four</a:t>
            </a:r>
            <a:r>
              <a:rPr dirty="0" sz="1250" spc="35">
                <a:solidFill>
                  <a:srgbClr val="A9B4D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A9B4D5"/>
                </a:solidFill>
                <a:latin typeface="Calibri"/>
                <a:cs typeface="Calibri"/>
              </a:rPr>
              <a:t>phases.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427476" y="2008251"/>
            <a:ext cx="2574925" cy="1298575"/>
            <a:chOff x="3427476" y="2008251"/>
            <a:chExt cx="2574925" cy="1298575"/>
          </a:xfrm>
        </p:grpSpPr>
        <p:sp>
          <p:nvSpPr>
            <p:cNvPr id="24" name="object 24"/>
            <p:cNvSpPr/>
            <p:nvPr/>
          </p:nvSpPr>
          <p:spPr>
            <a:xfrm>
              <a:off x="3433826" y="2014601"/>
              <a:ext cx="2562225" cy="1285875"/>
            </a:xfrm>
            <a:custGeom>
              <a:avLst/>
              <a:gdLst/>
              <a:ahLst/>
              <a:cxnLst/>
              <a:rect l="l" t="t" r="r" b="b"/>
              <a:pathLst>
                <a:path w="2562225" h="1285875">
                  <a:moveTo>
                    <a:pt x="2470277" y="0"/>
                  </a:moveTo>
                  <a:lnTo>
                    <a:pt x="91821" y="0"/>
                  </a:lnTo>
                  <a:lnTo>
                    <a:pt x="56042" y="7203"/>
                  </a:lnTo>
                  <a:lnTo>
                    <a:pt x="26860" y="26860"/>
                  </a:lnTo>
                  <a:lnTo>
                    <a:pt x="7203" y="56042"/>
                  </a:lnTo>
                  <a:lnTo>
                    <a:pt x="0" y="91821"/>
                  </a:lnTo>
                  <a:lnTo>
                    <a:pt x="0" y="1193927"/>
                  </a:lnTo>
                  <a:lnTo>
                    <a:pt x="7203" y="1229725"/>
                  </a:lnTo>
                  <a:lnTo>
                    <a:pt x="26860" y="1258951"/>
                  </a:lnTo>
                  <a:lnTo>
                    <a:pt x="56042" y="1278651"/>
                  </a:lnTo>
                  <a:lnTo>
                    <a:pt x="91821" y="1285875"/>
                  </a:lnTo>
                  <a:lnTo>
                    <a:pt x="2470277" y="1285875"/>
                  </a:lnTo>
                  <a:lnTo>
                    <a:pt x="2506075" y="1278651"/>
                  </a:lnTo>
                  <a:lnTo>
                    <a:pt x="2535301" y="1258951"/>
                  </a:lnTo>
                  <a:lnTo>
                    <a:pt x="2555001" y="1229725"/>
                  </a:lnTo>
                  <a:lnTo>
                    <a:pt x="2562225" y="1193927"/>
                  </a:lnTo>
                  <a:lnTo>
                    <a:pt x="2562225" y="91821"/>
                  </a:lnTo>
                  <a:lnTo>
                    <a:pt x="2555001" y="56042"/>
                  </a:lnTo>
                  <a:lnTo>
                    <a:pt x="2535301" y="26860"/>
                  </a:lnTo>
                  <a:lnTo>
                    <a:pt x="2506075" y="7203"/>
                  </a:lnTo>
                  <a:lnTo>
                    <a:pt x="2470277" y="0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433826" y="2014601"/>
              <a:ext cx="2562225" cy="1285875"/>
            </a:xfrm>
            <a:custGeom>
              <a:avLst/>
              <a:gdLst/>
              <a:ahLst/>
              <a:cxnLst/>
              <a:rect l="l" t="t" r="r" b="b"/>
              <a:pathLst>
                <a:path w="2562225" h="1285875">
                  <a:moveTo>
                    <a:pt x="0" y="91821"/>
                  </a:moveTo>
                  <a:lnTo>
                    <a:pt x="7203" y="56042"/>
                  </a:lnTo>
                  <a:lnTo>
                    <a:pt x="26860" y="26860"/>
                  </a:lnTo>
                  <a:lnTo>
                    <a:pt x="56042" y="7203"/>
                  </a:lnTo>
                  <a:lnTo>
                    <a:pt x="91821" y="0"/>
                  </a:lnTo>
                  <a:lnTo>
                    <a:pt x="2470277" y="0"/>
                  </a:lnTo>
                  <a:lnTo>
                    <a:pt x="2506075" y="7203"/>
                  </a:lnTo>
                  <a:lnTo>
                    <a:pt x="2535301" y="26860"/>
                  </a:lnTo>
                  <a:lnTo>
                    <a:pt x="2555001" y="56042"/>
                  </a:lnTo>
                  <a:lnTo>
                    <a:pt x="2562225" y="91821"/>
                  </a:lnTo>
                  <a:lnTo>
                    <a:pt x="2562225" y="1193927"/>
                  </a:lnTo>
                  <a:lnTo>
                    <a:pt x="2555001" y="1229725"/>
                  </a:lnTo>
                  <a:lnTo>
                    <a:pt x="2535301" y="1258951"/>
                  </a:lnTo>
                  <a:lnTo>
                    <a:pt x="2506075" y="1278651"/>
                  </a:lnTo>
                  <a:lnTo>
                    <a:pt x="2470277" y="1285875"/>
                  </a:lnTo>
                  <a:lnTo>
                    <a:pt x="91821" y="1285875"/>
                  </a:lnTo>
                  <a:lnTo>
                    <a:pt x="56042" y="1278651"/>
                  </a:lnTo>
                  <a:lnTo>
                    <a:pt x="26860" y="1258951"/>
                  </a:lnTo>
                  <a:lnTo>
                    <a:pt x="7203" y="1229725"/>
                  </a:lnTo>
                  <a:lnTo>
                    <a:pt x="0" y="1193927"/>
                  </a:lnTo>
                  <a:lnTo>
                    <a:pt x="0" y="91821"/>
                  </a:lnTo>
                  <a:close/>
                </a:path>
              </a:pathLst>
            </a:custGeom>
            <a:ln w="12700">
              <a:solidFill>
                <a:srgbClr val="F1F4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614801" y="21955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614801" y="21955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3800" y="2314575"/>
              <a:ext cx="219075" cy="21907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197984" y="2298636"/>
            <a:ext cx="76517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1">
                <a:solidFill>
                  <a:srgbClr val="0E1B3C"/>
                </a:solidFill>
                <a:latin typeface="Cambria"/>
                <a:cs typeface="Cambria"/>
              </a:rPr>
              <a:t>Statistics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02990" y="2725991"/>
            <a:ext cx="2213610" cy="36004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00"/>
              </a:spcBef>
            </a:pP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Hypothesis</a:t>
            </a:r>
            <a:r>
              <a:rPr dirty="0" sz="1100" spc="-4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testing,</a:t>
            </a:r>
            <a:r>
              <a:rPr dirty="0" sz="11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5B6382"/>
                </a:solidFill>
                <a:latin typeface="Calibri"/>
                <a:cs typeface="Calibri"/>
              </a:rPr>
              <a:t>T-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tests,</a:t>
            </a:r>
            <a:r>
              <a:rPr dirty="0" sz="11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382"/>
                </a:solidFill>
                <a:latin typeface="Calibri"/>
                <a:cs typeface="Calibri"/>
              </a:rPr>
              <a:t>confidence intervals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170676" y="2008251"/>
            <a:ext cx="2574925" cy="1298575"/>
            <a:chOff x="6170676" y="2008251"/>
            <a:chExt cx="2574925" cy="1298575"/>
          </a:xfrm>
        </p:grpSpPr>
        <p:sp>
          <p:nvSpPr>
            <p:cNvPr id="32" name="object 32"/>
            <p:cNvSpPr/>
            <p:nvPr/>
          </p:nvSpPr>
          <p:spPr>
            <a:xfrm>
              <a:off x="6177026" y="2014601"/>
              <a:ext cx="2562225" cy="1285875"/>
            </a:xfrm>
            <a:custGeom>
              <a:avLst/>
              <a:gdLst/>
              <a:ahLst/>
              <a:cxnLst/>
              <a:rect l="l" t="t" r="r" b="b"/>
              <a:pathLst>
                <a:path w="2562225" h="1285875">
                  <a:moveTo>
                    <a:pt x="2470277" y="0"/>
                  </a:moveTo>
                  <a:lnTo>
                    <a:pt x="91821" y="0"/>
                  </a:lnTo>
                  <a:lnTo>
                    <a:pt x="56042" y="7203"/>
                  </a:lnTo>
                  <a:lnTo>
                    <a:pt x="26860" y="26860"/>
                  </a:lnTo>
                  <a:lnTo>
                    <a:pt x="7203" y="56042"/>
                  </a:lnTo>
                  <a:lnTo>
                    <a:pt x="0" y="91821"/>
                  </a:lnTo>
                  <a:lnTo>
                    <a:pt x="0" y="1193927"/>
                  </a:lnTo>
                  <a:lnTo>
                    <a:pt x="7203" y="1229725"/>
                  </a:lnTo>
                  <a:lnTo>
                    <a:pt x="26860" y="1258951"/>
                  </a:lnTo>
                  <a:lnTo>
                    <a:pt x="56042" y="1278651"/>
                  </a:lnTo>
                  <a:lnTo>
                    <a:pt x="91821" y="1285875"/>
                  </a:lnTo>
                  <a:lnTo>
                    <a:pt x="2470277" y="1285875"/>
                  </a:lnTo>
                  <a:lnTo>
                    <a:pt x="2506075" y="1278651"/>
                  </a:lnTo>
                  <a:lnTo>
                    <a:pt x="2535301" y="1258951"/>
                  </a:lnTo>
                  <a:lnTo>
                    <a:pt x="2555001" y="1229725"/>
                  </a:lnTo>
                  <a:lnTo>
                    <a:pt x="2562225" y="1193927"/>
                  </a:lnTo>
                  <a:lnTo>
                    <a:pt x="2562225" y="91821"/>
                  </a:lnTo>
                  <a:lnTo>
                    <a:pt x="2555001" y="56042"/>
                  </a:lnTo>
                  <a:lnTo>
                    <a:pt x="2535301" y="26860"/>
                  </a:lnTo>
                  <a:lnTo>
                    <a:pt x="2506075" y="7203"/>
                  </a:lnTo>
                  <a:lnTo>
                    <a:pt x="2470277" y="0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177026" y="2014601"/>
              <a:ext cx="2562225" cy="1285875"/>
            </a:xfrm>
            <a:custGeom>
              <a:avLst/>
              <a:gdLst/>
              <a:ahLst/>
              <a:cxnLst/>
              <a:rect l="l" t="t" r="r" b="b"/>
              <a:pathLst>
                <a:path w="2562225" h="1285875">
                  <a:moveTo>
                    <a:pt x="0" y="91821"/>
                  </a:moveTo>
                  <a:lnTo>
                    <a:pt x="7203" y="56042"/>
                  </a:lnTo>
                  <a:lnTo>
                    <a:pt x="26860" y="26860"/>
                  </a:lnTo>
                  <a:lnTo>
                    <a:pt x="56042" y="7203"/>
                  </a:lnTo>
                  <a:lnTo>
                    <a:pt x="91821" y="0"/>
                  </a:lnTo>
                  <a:lnTo>
                    <a:pt x="2470277" y="0"/>
                  </a:lnTo>
                  <a:lnTo>
                    <a:pt x="2506075" y="7203"/>
                  </a:lnTo>
                  <a:lnTo>
                    <a:pt x="2535301" y="26860"/>
                  </a:lnTo>
                  <a:lnTo>
                    <a:pt x="2555001" y="56042"/>
                  </a:lnTo>
                  <a:lnTo>
                    <a:pt x="2562225" y="91821"/>
                  </a:lnTo>
                  <a:lnTo>
                    <a:pt x="2562225" y="1193927"/>
                  </a:lnTo>
                  <a:lnTo>
                    <a:pt x="2555001" y="1229725"/>
                  </a:lnTo>
                  <a:lnTo>
                    <a:pt x="2535301" y="1258951"/>
                  </a:lnTo>
                  <a:lnTo>
                    <a:pt x="2506075" y="1278651"/>
                  </a:lnTo>
                  <a:lnTo>
                    <a:pt x="2470277" y="1285875"/>
                  </a:lnTo>
                  <a:lnTo>
                    <a:pt x="91821" y="1285875"/>
                  </a:lnTo>
                  <a:lnTo>
                    <a:pt x="56042" y="1278651"/>
                  </a:lnTo>
                  <a:lnTo>
                    <a:pt x="26860" y="1258951"/>
                  </a:lnTo>
                  <a:lnTo>
                    <a:pt x="7203" y="1229725"/>
                  </a:lnTo>
                  <a:lnTo>
                    <a:pt x="0" y="1193927"/>
                  </a:lnTo>
                  <a:lnTo>
                    <a:pt x="0" y="91821"/>
                  </a:lnTo>
                  <a:close/>
                </a:path>
              </a:pathLst>
            </a:custGeom>
            <a:ln w="12700">
              <a:solidFill>
                <a:srgbClr val="F1F4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358001" y="21955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358001" y="21955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7000" y="2314575"/>
              <a:ext cx="219075" cy="219075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943979" y="2298636"/>
            <a:ext cx="132461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1">
                <a:solidFill>
                  <a:srgbClr val="0E1B3C"/>
                </a:solidFill>
                <a:latin typeface="Cambria"/>
                <a:cs typeface="Cambria"/>
              </a:rPr>
              <a:t>Communication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48984" y="2725991"/>
            <a:ext cx="1693545" cy="36004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00"/>
              </a:spcBef>
            </a:pP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Data</a:t>
            </a:r>
            <a:r>
              <a:rPr dirty="0" sz="1100" spc="-5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storytelling,</a:t>
            </a:r>
            <a:r>
              <a:rPr dirty="0" sz="1100" spc="-2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382"/>
                </a:solidFill>
                <a:latin typeface="Calibri"/>
                <a:cs typeface="Calibri"/>
              </a:rPr>
              <a:t>stakeholder presentations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427476" y="3475101"/>
            <a:ext cx="2574925" cy="1289050"/>
            <a:chOff x="3427476" y="3475101"/>
            <a:chExt cx="2574925" cy="1289050"/>
          </a:xfrm>
        </p:grpSpPr>
        <p:sp>
          <p:nvSpPr>
            <p:cNvPr id="40" name="object 40"/>
            <p:cNvSpPr/>
            <p:nvPr/>
          </p:nvSpPr>
          <p:spPr>
            <a:xfrm>
              <a:off x="3433826" y="3481451"/>
              <a:ext cx="2562225" cy="1276350"/>
            </a:xfrm>
            <a:custGeom>
              <a:avLst/>
              <a:gdLst/>
              <a:ahLst/>
              <a:cxnLst/>
              <a:rect l="l" t="t" r="r" b="b"/>
              <a:pathLst>
                <a:path w="2562225" h="1276350">
                  <a:moveTo>
                    <a:pt x="2471039" y="0"/>
                  </a:moveTo>
                  <a:lnTo>
                    <a:pt x="91059" y="0"/>
                  </a:lnTo>
                  <a:lnTo>
                    <a:pt x="55614" y="7155"/>
                  </a:lnTo>
                  <a:lnTo>
                    <a:pt x="26670" y="26670"/>
                  </a:lnTo>
                  <a:lnTo>
                    <a:pt x="7155" y="55614"/>
                  </a:lnTo>
                  <a:lnTo>
                    <a:pt x="0" y="91059"/>
                  </a:lnTo>
                  <a:lnTo>
                    <a:pt x="0" y="1185113"/>
                  </a:lnTo>
                  <a:lnTo>
                    <a:pt x="7155" y="1220602"/>
                  </a:lnTo>
                  <a:lnTo>
                    <a:pt x="26669" y="1249583"/>
                  </a:lnTo>
                  <a:lnTo>
                    <a:pt x="55614" y="1269121"/>
                  </a:lnTo>
                  <a:lnTo>
                    <a:pt x="91059" y="1276286"/>
                  </a:lnTo>
                  <a:lnTo>
                    <a:pt x="2471039" y="1276286"/>
                  </a:lnTo>
                  <a:lnTo>
                    <a:pt x="2506503" y="1269121"/>
                  </a:lnTo>
                  <a:lnTo>
                    <a:pt x="2535491" y="1249583"/>
                  </a:lnTo>
                  <a:lnTo>
                    <a:pt x="2555049" y="1220602"/>
                  </a:lnTo>
                  <a:lnTo>
                    <a:pt x="2562225" y="1185113"/>
                  </a:lnTo>
                  <a:lnTo>
                    <a:pt x="2562225" y="91059"/>
                  </a:lnTo>
                  <a:lnTo>
                    <a:pt x="2555049" y="55614"/>
                  </a:lnTo>
                  <a:lnTo>
                    <a:pt x="2535491" y="26669"/>
                  </a:lnTo>
                  <a:lnTo>
                    <a:pt x="2506503" y="7155"/>
                  </a:lnTo>
                  <a:lnTo>
                    <a:pt x="2471039" y="0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433826" y="3481451"/>
              <a:ext cx="2562225" cy="1276350"/>
            </a:xfrm>
            <a:custGeom>
              <a:avLst/>
              <a:gdLst/>
              <a:ahLst/>
              <a:cxnLst/>
              <a:rect l="l" t="t" r="r" b="b"/>
              <a:pathLst>
                <a:path w="2562225" h="1276350">
                  <a:moveTo>
                    <a:pt x="0" y="91059"/>
                  </a:moveTo>
                  <a:lnTo>
                    <a:pt x="7155" y="55614"/>
                  </a:lnTo>
                  <a:lnTo>
                    <a:pt x="26670" y="26670"/>
                  </a:lnTo>
                  <a:lnTo>
                    <a:pt x="55614" y="7155"/>
                  </a:lnTo>
                  <a:lnTo>
                    <a:pt x="91059" y="0"/>
                  </a:lnTo>
                  <a:lnTo>
                    <a:pt x="2471039" y="0"/>
                  </a:lnTo>
                  <a:lnTo>
                    <a:pt x="2506503" y="7155"/>
                  </a:lnTo>
                  <a:lnTo>
                    <a:pt x="2535491" y="26669"/>
                  </a:lnTo>
                  <a:lnTo>
                    <a:pt x="2555049" y="55614"/>
                  </a:lnTo>
                  <a:lnTo>
                    <a:pt x="2562225" y="91059"/>
                  </a:lnTo>
                  <a:lnTo>
                    <a:pt x="2562225" y="1185113"/>
                  </a:lnTo>
                  <a:lnTo>
                    <a:pt x="2555049" y="1220602"/>
                  </a:lnTo>
                  <a:lnTo>
                    <a:pt x="2535491" y="1249583"/>
                  </a:lnTo>
                  <a:lnTo>
                    <a:pt x="2506503" y="1269121"/>
                  </a:lnTo>
                  <a:lnTo>
                    <a:pt x="2471039" y="1276286"/>
                  </a:lnTo>
                  <a:lnTo>
                    <a:pt x="91059" y="1276286"/>
                  </a:lnTo>
                  <a:lnTo>
                    <a:pt x="55614" y="1269121"/>
                  </a:lnTo>
                  <a:lnTo>
                    <a:pt x="26669" y="1249583"/>
                  </a:lnTo>
                  <a:lnTo>
                    <a:pt x="7155" y="1220602"/>
                  </a:lnTo>
                  <a:lnTo>
                    <a:pt x="0" y="1185113"/>
                  </a:lnTo>
                  <a:lnTo>
                    <a:pt x="0" y="91059"/>
                  </a:lnTo>
                  <a:close/>
                </a:path>
              </a:pathLst>
            </a:custGeom>
            <a:ln w="12700">
              <a:solidFill>
                <a:srgbClr val="F1F4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614801" y="36624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7"/>
                  </a:lnTo>
                  <a:lnTo>
                    <a:pt x="100738" y="39008"/>
                  </a:lnTo>
                  <a:lnTo>
                    <a:pt x="66913" y="66905"/>
                  </a:lnTo>
                  <a:lnTo>
                    <a:pt x="39011" y="100722"/>
                  </a:lnTo>
                  <a:lnTo>
                    <a:pt x="17948" y="139544"/>
                  </a:lnTo>
                  <a:lnTo>
                    <a:pt x="4639" y="182454"/>
                  </a:lnTo>
                  <a:lnTo>
                    <a:pt x="0" y="228536"/>
                  </a:lnTo>
                  <a:lnTo>
                    <a:pt x="4639" y="274606"/>
                  </a:lnTo>
                  <a:lnTo>
                    <a:pt x="17948" y="317517"/>
                  </a:lnTo>
                  <a:lnTo>
                    <a:pt x="39011" y="356348"/>
                  </a:lnTo>
                  <a:lnTo>
                    <a:pt x="66913" y="390180"/>
                  </a:lnTo>
                  <a:lnTo>
                    <a:pt x="100738" y="418094"/>
                  </a:lnTo>
                  <a:lnTo>
                    <a:pt x="139571" y="439171"/>
                  </a:lnTo>
                  <a:lnTo>
                    <a:pt x="182496" y="452492"/>
                  </a:lnTo>
                  <a:lnTo>
                    <a:pt x="228600" y="457136"/>
                  </a:lnTo>
                  <a:lnTo>
                    <a:pt x="274666" y="452492"/>
                  </a:lnTo>
                  <a:lnTo>
                    <a:pt x="317575" y="439171"/>
                  </a:lnTo>
                  <a:lnTo>
                    <a:pt x="356406" y="418094"/>
                  </a:lnTo>
                  <a:lnTo>
                    <a:pt x="390239" y="390180"/>
                  </a:lnTo>
                  <a:lnTo>
                    <a:pt x="418154" y="356348"/>
                  </a:lnTo>
                  <a:lnTo>
                    <a:pt x="439233" y="317517"/>
                  </a:lnTo>
                  <a:lnTo>
                    <a:pt x="452555" y="274606"/>
                  </a:lnTo>
                  <a:lnTo>
                    <a:pt x="457200" y="228536"/>
                  </a:lnTo>
                  <a:lnTo>
                    <a:pt x="452555" y="182454"/>
                  </a:lnTo>
                  <a:lnTo>
                    <a:pt x="439233" y="139544"/>
                  </a:lnTo>
                  <a:lnTo>
                    <a:pt x="418154" y="100722"/>
                  </a:lnTo>
                  <a:lnTo>
                    <a:pt x="390239" y="66905"/>
                  </a:lnTo>
                  <a:lnTo>
                    <a:pt x="356406" y="39008"/>
                  </a:lnTo>
                  <a:lnTo>
                    <a:pt x="317575" y="17947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614801" y="36624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36"/>
                  </a:moveTo>
                  <a:lnTo>
                    <a:pt x="4639" y="182454"/>
                  </a:lnTo>
                  <a:lnTo>
                    <a:pt x="17948" y="139544"/>
                  </a:lnTo>
                  <a:lnTo>
                    <a:pt x="39011" y="100722"/>
                  </a:lnTo>
                  <a:lnTo>
                    <a:pt x="66913" y="66905"/>
                  </a:lnTo>
                  <a:lnTo>
                    <a:pt x="100738" y="39008"/>
                  </a:lnTo>
                  <a:lnTo>
                    <a:pt x="139571" y="17947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7"/>
                  </a:lnTo>
                  <a:lnTo>
                    <a:pt x="356406" y="39008"/>
                  </a:lnTo>
                  <a:lnTo>
                    <a:pt x="390239" y="66905"/>
                  </a:lnTo>
                  <a:lnTo>
                    <a:pt x="418154" y="100722"/>
                  </a:lnTo>
                  <a:lnTo>
                    <a:pt x="439233" y="139544"/>
                  </a:lnTo>
                  <a:lnTo>
                    <a:pt x="452555" y="182454"/>
                  </a:lnTo>
                  <a:lnTo>
                    <a:pt x="457200" y="228536"/>
                  </a:lnTo>
                  <a:lnTo>
                    <a:pt x="452555" y="274606"/>
                  </a:lnTo>
                  <a:lnTo>
                    <a:pt x="439233" y="317517"/>
                  </a:lnTo>
                  <a:lnTo>
                    <a:pt x="418154" y="356348"/>
                  </a:lnTo>
                  <a:lnTo>
                    <a:pt x="390239" y="390180"/>
                  </a:lnTo>
                  <a:lnTo>
                    <a:pt x="356406" y="418094"/>
                  </a:lnTo>
                  <a:lnTo>
                    <a:pt x="317575" y="439171"/>
                  </a:lnTo>
                  <a:lnTo>
                    <a:pt x="274666" y="452492"/>
                  </a:lnTo>
                  <a:lnTo>
                    <a:pt x="228600" y="457136"/>
                  </a:lnTo>
                  <a:lnTo>
                    <a:pt x="182496" y="452492"/>
                  </a:lnTo>
                  <a:lnTo>
                    <a:pt x="139571" y="439171"/>
                  </a:lnTo>
                  <a:lnTo>
                    <a:pt x="100738" y="418094"/>
                  </a:lnTo>
                  <a:lnTo>
                    <a:pt x="66913" y="390180"/>
                  </a:lnTo>
                  <a:lnTo>
                    <a:pt x="39011" y="356348"/>
                  </a:lnTo>
                  <a:lnTo>
                    <a:pt x="17948" y="317517"/>
                  </a:lnTo>
                  <a:lnTo>
                    <a:pt x="4639" y="274606"/>
                  </a:lnTo>
                  <a:lnTo>
                    <a:pt x="0" y="228536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3771900"/>
              <a:ext cx="219075" cy="22860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4197984" y="3764279"/>
            <a:ext cx="47053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1">
                <a:solidFill>
                  <a:srgbClr val="0E1B3C"/>
                </a:solidFill>
                <a:latin typeface="Cambria"/>
                <a:cs typeface="Cambria"/>
              </a:rPr>
              <a:t>Tools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02990" y="4191634"/>
            <a:ext cx="1736725" cy="36004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00"/>
              </a:spcBef>
            </a:pP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Power</a:t>
            </a:r>
            <a:r>
              <a:rPr dirty="0" sz="1100" spc="-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BI,</a:t>
            </a:r>
            <a:r>
              <a:rPr dirty="0" sz="1100" spc="-4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Jupyter,</a:t>
            </a:r>
            <a:r>
              <a:rPr dirty="0" sz="1100" spc="-4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382"/>
                </a:solidFill>
                <a:latin typeface="Calibri"/>
                <a:cs typeface="Calibri"/>
              </a:rPr>
              <a:t>Git/GitHub, PowerPoint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170676" y="3475101"/>
            <a:ext cx="2574925" cy="1289050"/>
            <a:chOff x="6170676" y="3475101"/>
            <a:chExt cx="2574925" cy="1289050"/>
          </a:xfrm>
        </p:grpSpPr>
        <p:sp>
          <p:nvSpPr>
            <p:cNvPr id="48" name="object 48"/>
            <p:cNvSpPr/>
            <p:nvPr/>
          </p:nvSpPr>
          <p:spPr>
            <a:xfrm>
              <a:off x="6177026" y="3481451"/>
              <a:ext cx="2562225" cy="1276350"/>
            </a:xfrm>
            <a:custGeom>
              <a:avLst/>
              <a:gdLst/>
              <a:ahLst/>
              <a:cxnLst/>
              <a:rect l="l" t="t" r="r" b="b"/>
              <a:pathLst>
                <a:path w="2562225" h="1276350">
                  <a:moveTo>
                    <a:pt x="2471039" y="0"/>
                  </a:moveTo>
                  <a:lnTo>
                    <a:pt x="91059" y="0"/>
                  </a:lnTo>
                  <a:lnTo>
                    <a:pt x="55614" y="7155"/>
                  </a:lnTo>
                  <a:lnTo>
                    <a:pt x="26670" y="26670"/>
                  </a:lnTo>
                  <a:lnTo>
                    <a:pt x="7155" y="55614"/>
                  </a:lnTo>
                  <a:lnTo>
                    <a:pt x="0" y="91059"/>
                  </a:lnTo>
                  <a:lnTo>
                    <a:pt x="0" y="1185113"/>
                  </a:lnTo>
                  <a:lnTo>
                    <a:pt x="7155" y="1220602"/>
                  </a:lnTo>
                  <a:lnTo>
                    <a:pt x="26669" y="1249583"/>
                  </a:lnTo>
                  <a:lnTo>
                    <a:pt x="55614" y="1269121"/>
                  </a:lnTo>
                  <a:lnTo>
                    <a:pt x="91059" y="1276286"/>
                  </a:lnTo>
                  <a:lnTo>
                    <a:pt x="2471039" y="1276286"/>
                  </a:lnTo>
                  <a:lnTo>
                    <a:pt x="2506503" y="1269121"/>
                  </a:lnTo>
                  <a:lnTo>
                    <a:pt x="2535491" y="1249583"/>
                  </a:lnTo>
                  <a:lnTo>
                    <a:pt x="2555049" y="1220602"/>
                  </a:lnTo>
                  <a:lnTo>
                    <a:pt x="2562225" y="1185113"/>
                  </a:lnTo>
                  <a:lnTo>
                    <a:pt x="2562225" y="91059"/>
                  </a:lnTo>
                  <a:lnTo>
                    <a:pt x="2555049" y="55614"/>
                  </a:lnTo>
                  <a:lnTo>
                    <a:pt x="2535491" y="26669"/>
                  </a:lnTo>
                  <a:lnTo>
                    <a:pt x="2506503" y="7155"/>
                  </a:lnTo>
                  <a:lnTo>
                    <a:pt x="2471039" y="0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177026" y="3481451"/>
              <a:ext cx="2562225" cy="1276350"/>
            </a:xfrm>
            <a:custGeom>
              <a:avLst/>
              <a:gdLst/>
              <a:ahLst/>
              <a:cxnLst/>
              <a:rect l="l" t="t" r="r" b="b"/>
              <a:pathLst>
                <a:path w="2562225" h="1276350">
                  <a:moveTo>
                    <a:pt x="0" y="91059"/>
                  </a:moveTo>
                  <a:lnTo>
                    <a:pt x="7155" y="55614"/>
                  </a:lnTo>
                  <a:lnTo>
                    <a:pt x="26670" y="26670"/>
                  </a:lnTo>
                  <a:lnTo>
                    <a:pt x="55614" y="7155"/>
                  </a:lnTo>
                  <a:lnTo>
                    <a:pt x="91059" y="0"/>
                  </a:lnTo>
                  <a:lnTo>
                    <a:pt x="2471039" y="0"/>
                  </a:lnTo>
                  <a:lnTo>
                    <a:pt x="2506503" y="7155"/>
                  </a:lnTo>
                  <a:lnTo>
                    <a:pt x="2535491" y="26669"/>
                  </a:lnTo>
                  <a:lnTo>
                    <a:pt x="2555049" y="55614"/>
                  </a:lnTo>
                  <a:lnTo>
                    <a:pt x="2562225" y="91059"/>
                  </a:lnTo>
                  <a:lnTo>
                    <a:pt x="2562225" y="1185113"/>
                  </a:lnTo>
                  <a:lnTo>
                    <a:pt x="2555049" y="1220602"/>
                  </a:lnTo>
                  <a:lnTo>
                    <a:pt x="2535491" y="1249583"/>
                  </a:lnTo>
                  <a:lnTo>
                    <a:pt x="2506503" y="1269121"/>
                  </a:lnTo>
                  <a:lnTo>
                    <a:pt x="2471039" y="1276286"/>
                  </a:lnTo>
                  <a:lnTo>
                    <a:pt x="91059" y="1276286"/>
                  </a:lnTo>
                  <a:lnTo>
                    <a:pt x="55614" y="1269121"/>
                  </a:lnTo>
                  <a:lnTo>
                    <a:pt x="26669" y="1249583"/>
                  </a:lnTo>
                  <a:lnTo>
                    <a:pt x="7155" y="1220602"/>
                  </a:lnTo>
                  <a:lnTo>
                    <a:pt x="0" y="1185113"/>
                  </a:lnTo>
                  <a:lnTo>
                    <a:pt x="0" y="91059"/>
                  </a:lnTo>
                  <a:close/>
                </a:path>
              </a:pathLst>
            </a:custGeom>
            <a:ln w="12700">
              <a:solidFill>
                <a:srgbClr val="F1F4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358001" y="36624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7"/>
                  </a:lnTo>
                  <a:lnTo>
                    <a:pt x="100738" y="39008"/>
                  </a:lnTo>
                  <a:lnTo>
                    <a:pt x="66913" y="66905"/>
                  </a:lnTo>
                  <a:lnTo>
                    <a:pt x="39011" y="100722"/>
                  </a:lnTo>
                  <a:lnTo>
                    <a:pt x="17948" y="139544"/>
                  </a:lnTo>
                  <a:lnTo>
                    <a:pt x="4639" y="182454"/>
                  </a:lnTo>
                  <a:lnTo>
                    <a:pt x="0" y="228536"/>
                  </a:lnTo>
                  <a:lnTo>
                    <a:pt x="4639" y="274606"/>
                  </a:lnTo>
                  <a:lnTo>
                    <a:pt x="17948" y="317517"/>
                  </a:lnTo>
                  <a:lnTo>
                    <a:pt x="39011" y="356348"/>
                  </a:lnTo>
                  <a:lnTo>
                    <a:pt x="66913" y="390180"/>
                  </a:lnTo>
                  <a:lnTo>
                    <a:pt x="100738" y="418094"/>
                  </a:lnTo>
                  <a:lnTo>
                    <a:pt x="139571" y="439171"/>
                  </a:lnTo>
                  <a:lnTo>
                    <a:pt x="182496" y="452492"/>
                  </a:lnTo>
                  <a:lnTo>
                    <a:pt x="228600" y="457136"/>
                  </a:lnTo>
                  <a:lnTo>
                    <a:pt x="274666" y="452492"/>
                  </a:lnTo>
                  <a:lnTo>
                    <a:pt x="317575" y="439171"/>
                  </a:lnTo>
                  <a:lnTo>
                    <a:pt x="356406" y="418094"/>
                  </a:lnTo>
                  <a:lnTo>
                    <a:pt x="390239" y="390180"/>
                  </a:lnTo>
                  <a:lnTo>
                    <a:pt x="418154" y="356348"/>
                  </a:lnTo>
                  <a:lnTo>
                    <a:pt x="439233" y="317517"/>
                  </a:lnTo>
                  <a:lnTo>
                    <a:pt x="452555" y="274606"/>
                  </a:lnTo>
                  <a:lnTo>
                    <a:pt x="457200" y="228536"/>
                  </a:lnTo>
                  <a:lnTo>
                    <a:pt x="452555" y="182454"/>
                  </a:lnTo>
                  <a:lnTo>
                    <a:pt x="439233" y="139544"/>
                  </a:lnTo>
                  <a:lnTo>
                    <a:pt x="418154" y="100722"/>
                  </a:lnTo>
                  <a:lnTo>
                    <a:pt x="390239" y="66905"/>
                  </a:lnTo>
                  <a:lnTo>
                    <a:pt x="356406" y="39008"/>
                  </a:lnTo>
                  <a:lnTo>
                    <a:pt x="317575" y="17947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358001" y="36624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36"/>
                  </a:moveTo>
                  <a:lnTo>
                    <a:pt x="4639" y="182454"/>
                  </a:lnTo>
                  <a:lnTo>
                    <a:pt x="17948" y="139544"/>
                  </a:lnTo>
                  <a:lnTo>
                    <a:pt x="39011" y="100722"/>
                  </a:lnTo>
                  <a:lnTo>
                    <a:pt x="66913" y="66905"/>
                  </a:lnTo>
                  <a:lnTo>
                    <a:pt x="100738" y="39008"/>
                  </a:lnTo>
                  <a:lnTo>
                    <a:pt x="139571" y="17947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7"/>
                  </a:lnTo>
                  <a:lnTo>
                    <a:pt x="356406" y="39008"/>
                  </a:lnTo>
                  <a:lnTo>
                    <a:pt x="390239" y="66905"/>
                  </a:lnTo>
                  <a:lnTo>
                    <a:pt x="418154" y="100722"/>
                  </a:lnTo>
                  <a:lnTo>
                    <a:pt x="439233" y="139544"/>
                  </a:lnTo>
                  <a:lnTo>
                    <a:pt x="452555" y="182454"/>
                  </a:lnTo>
                  <a:lnTo>
                    <a:pt x="457200" y="228536"/>
                  </a:lnTo>
                  <a:lnTo>
                    <a:pt x="452555" y="274606"/>
                  </a:lnTo>
                  <a:lnTo>
                    <a:pt x="439233" y="317517"/>
                  </a:lnTo>
                  <a:lnTo>
                    <a:pt x="418154" y="356348"/>
                  </a:lnTo>
                  <a:lnTo>
                    <a:pt x="390239" y="390180"/>
                  </a:lnTo>
                  <a:lnTo>
                    <a:pt x="356406" y="418094"/>
                  </a:lnTo>
                  <a:lnTo>
                    <a:pt x="317575" y="439171"/>
                  </a:lnTo>
                  <a:lnTo>
                    <a:pt x="274666" y="452492"/>
                  </a:lnTo>
                  <a:lnTo>
                    <a:pt x="228600" y="457136"/>
                  </a:lnTo>
                  <a:lnTo>
                    <a:pt x="182496" y="452492"/>
                  </a:lnTo>
                  <a:lnTo>
                    <a:pt x="139571" y="439171"/>
                  </a:lnTo>
                  <a:lnTo>
                    <a:pt x="100738" y="418094"/>
                  </a:lnTo>
                  <a:lnTo>
                    <a:pt x="66913" y="390180"/>
                  </a:lnTo>
                  <a:lnTo>
                    <a:pt x="39011" y="356348"/>
                  </a:lnTo>
                  <a:lnTo>
                    <a:pt x="17948" y="317517"/>
                  </a:lnTo>
                  <a:lnTo>
                    <a:pt x="4639" y="274606"/>
                  </a:lnTo>
                  <a:lnTo>
                    <a:pt x="0" y="228536"/>
                  </a:lnTo>
                  <a:close/>
                </a:path>
              </a:pathLst>
            </a:custGeom>
            <a:ln w="12700">
              <a:solidFill>
                <a:srgbClr val="F5A6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7000" y="3771900"/>
              <a:ext cx="219075" cy="22860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6943979" y="3764279"/>
            <a:ext cx="153924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solidFill>
                  <a:srgbClr val="0E1B3C"/>
                </a:solidFill>
                <a:latin typeface="Cambria"/>
                <a:cs typeface="Cambria"/>
              </a:rPr>
              <a:t>Business</a:t>
            </a:r>
            <a:r>
              <a:rPr dirty="0" sz="1400" spc="-65" b="1">
                <a:solidFill>
                  <a:srgbClr val="0E1B3C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0E1B3C"/>
                </a:solidFill>
                <a:latin typeface="Cambria"/>
                <a:cs typeface="Cambria"/>
              </a:rPr>
              <a:t>Thinking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48984" y="4191634"/>
            <a:ext cx="1811020" cy="36004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00"/>
              </a:spcBef>
            </a:pP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Translating</a:t>
            </a:r>
            <a:r>
              <a:rPr dirty="0" sz="1100" spc="-1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data</a:t>
            </a:r>
            <a:r>
              <a:rPr dirty="0" sz="11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B6382"/>
                </a:solidFill>
                <a:latin typeface="Calibri"/>
                <a:cs typeface="Calibri"/>
              </a:rPr>
              <a:t>into</a:t>
            </a:r>
            <a:r>
              <a:rPr dirty="0" sz="1100" spc="-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B6382"/>
                </a:solidFill>
                <a:latin typeface="Calibri"/>
                <a:cs typeface="Calibri"/>
              </a:rPr>
              <a:t>actionable recommendations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Explore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Full</a:t>
            </a:r>
            <a:r>
              <a:rPr dirty="0" spc="-85"/>
              <a:t> </a:t>
            </a:r>
            <a:r>
              <a:rPr dirty="0" spc="-10"/>
              <a:t>Portfolio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75" y="1031303"/>
            <a:ext cx="462470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B6382"/>
                </a:solidFill>
                <a:latin typeface="Calibri"/>
                <a:cs typeface="Calibri"/>
              </a:rPr>
              <a:t>Every</a:t>
            </a:r>
            <a:r>
              <a:rPr dirty="0" sz="1500" spc="-3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382"/>
                </a:solidFill>
                <a:latin typeface="Calibri"/>
                <a:cs typeface="Calibri"/>
              </a:rPr>
              <a:t>phase</a:t>
            </a:r>
            <a:r>
              <a:rPr dirty="0" sz="1500" spc="-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382"/>
                </a:solidFill>
                <a:latin typeface="Calibri"/>
                <a:cs typeface="Calibri"/>
              </a:rPr>
              <a:t>is </a:t>
            </a:r>
            <a:r>
              <a:rPr dirty="0" sz="1500" spc="-20">
                <a:solidFill>
                  <a:srgbClr val="5B6382"/>
                </a:solidFill>
                <a:latin typeface="Calibri"/>
                <a:cs typeface="Calibri"/>
              </a:rPr>
              <a:t>documented,</a:t>
            </a:r>
            <a:r>
              <a:rPr dirty="0" sz="1500" spc="-6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382"/>
                </a:solidFill>
                <a:latin typeface="Calibri"/>
                <a:cs typeface="Calibri"/>
              </a:rPr>
              <a:t>reproducible,</a:t>
            </a:r>
            <a:r>
              <a:rPr dirty="0" sz="1500" spc="-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382"/>
                </a:solidFill>
                <a:latin typeface="Calibri"/>
                <a:cs typeface="Calibri"/>
              </a:rPr>
              <a:t>and</a:t>
            </a:r>
            <a:r>
              <a:rPr dirty="0" sz="1500" spc="-45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382"/>
                </a:solidFill>
                <a:latin typeface="Calibri"/>
                <a:cs typeface="Calibri"/>
              </a:rPr>
              <a:t>linked</a:t>
            </a:r>
            <a:r>
              <a:rPr dirty="0" sz="1500" spc="-40">
                <a:solidFill>
                  <a:srgbClr val="5B6382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382"/>
                </a:solidFill>
                <a:latin typeface="Calibri"/>
                <a:cs typeface="Calibri"/>
              </a:rPr>
              <a:t>below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8150" y="1562036"/>
            <a:ext cx="4157979" cy="1148080"/>
            <a:chOff x="438150" y="1562036"/>
            <a:chExt cx="4157979" cy="11480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50" y="1562036"/>
              <a:ext cx="4157726" cy="114776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7212" y="1652651"/>
              <a:ext cx="3924935" cy="914400"/>
            </a:xfrm>
            <a:custGeom>
              <a:avLst/>
              <a:gdLst/>
              <a:ahLst/>
              <a:cxnLst/>
              <a:rect l="l" t="t" r="r" b="b"/>
              <a:pathLst>
                <a:path w="3924935" h="914400">
                  <a:moveTo>
                    <a:pt x="3832923" y="0"/>
                  </a:moveTo>
                  <a:lnTo>
                    <a:pt x="91440" y="0"/>
                  </a:lnTo>
                  <a:lnTo>
                    <a:pt x="55849" y="7177"/>
                  </a:lnTo>
                  <a:lnTo>
                    <a:pt x="26784" y="26749"/>
                  </a:lnTo>
                  <a:lnTo>
                    <a:pt x="7186" y="55774"/>
                  </a:lnTo>
                  <a:lnTo>
                    <a:pt x="0" y="91312"/>
                  </a:lnTo>
                  <a:lnTo>
                    <a:pt x="0" y="822960"/>
                  </a:lnTo>
                  <a:lnTo>
                    <a:pt x="7186" y="858518"/>
                  </a:lnTo>
                  <a:lnTo>
                    <a:pt x="26784" y="887587"/>
                  </a:lnTo>
                  <a:lnTo>
                    <a:pt x="55849" y="907202"/>
                  </a:lnTo>
                  <a:lnTo>
                    <a:pt x="91440" y="914400"/>
                  </a:lnTo>
                  <a:lnTo>
                    <a:pt x="3832923" y="914400"/>
                  </a:lnTo>
                  <a:lnTo>
                    <a:pt x="3868481" y="907202"/>
                  </a:lnTo>
                  <a:lnTo>
                    <a:pt x="3897550" y="887587"/>
                  </a:lnTo>
                  <a:lnTo>
                    <a:pt x="3917166" y="858518"/>
                  </a:lnTo>
                  <a:lnTo>
                    <a:pt x="3924363" y="822960"/>
                  </a:lnTo>
                  <a:lnTo>
                    <a:pt x="3924363" y="91312"/>
                  </a:lnTo>
                  <a:lnTo>
                    <a:pt x="3917166" y="55774"/>
                  </a:lnTo>
                  <a:lnTo>
                    <a:pt x="3897550" y="26749"/>
                  </a:lnTo>
                  <a:lnTo>
                    <a:pt x="3868481" y="7177"/>
                  </a:lnTo>
                  <a:lnTo>
                    <a:pt x="38329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212" y="1652651"/>
              <a:ext cx="3924935" cy="914400"/>
            </a:xfrm>
            <a:custGeom>
              <a:avLst/>
              <a:gdLst/>
              <a:ahLst/>
              <a:cxnLst/>
              <a:rect l="l" t="t" r="r" b="b"/>
              <a:pathLst>
                <a:path w="3924935" h="914400">
                  <a:moveTo>
                    <a:pt x="0" y="91312"/>
                  </a:moveTo>
                  <a:lnTo>
                    <a:pt x="7186" y="55774"/>
                  </a:lnTo>
                  <a:lnTo>
                    <a:pt x="26784" y="26749"/>
                  </a:lnTo>
                  <a:lnTo>
                    <a:pt x="55849" y="7177"/>
                  </a:lnTo>
                  <a:lnTo>
                    <a:pt x="91440" y="0"/>
                  </a:lnTo>
                  <a:lnTo>
                    <a:pt x="3832923" y="0"/>
                  </a:lnTo>
                  <a:lnTo>
                    <a:pt x="3868481" y="7177"/>
                  </a:lnTo>
                  <a:lnTo>
                    <a:pt x="3897550" y="26749"/>
                  </a:lnTo>
                  <a:lnTo>
                    <a:pt x="3917166" y="55774"/>
                  </a:lnTo>
                  <a:lnTo>
                    <a:pt x="3924363" y="91312"/>
                  </a:lnTo>
                  <a:lnTo>
                    <a:pt x="3924363" y="822960"/>
                  </a:lnTo>
                  <a:lnTo>
                    <a:pt x="3917166" y="858518"/>
                  </a:lnTo>
                  <a:lnTo>
                    <a:pt x="3897550" y="887587"/>
                  </a:lnTo>
                  <a:lnTo>
                    <a:pt x="3868481" y="907202"/>
                  </a:lnTo>
                  <a:lnTo>
                    <a:pt x="3832923" y="914400"/>
                  </a:lnTo>
                  <a:lnTo>
                    <a:pt x="91440" y="914400"/>
                  </a:lnTo>
                  <a:lnTo>
                    <a:pt x="55849" y="907202"/>
                  </a:lnTo>
                  <a:lnTo>
                    <a:pt x="26784" y="887587"/>
                  </a:lnTo>
                  <a:lnTo>
                    <a:pt x="7186" y="858518"/>
                  </a:lnTo>
                  <a:lnTo>
                    <a:pt x="0" y="822960"/>
                  </a:lnTo>
                  <a:lnTo>
                    <a:pt x="0" y="913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33425" y="1828800"/>
            <a:ext cx="542925" cy="552450"/>
          </a:xfrm>
          <a:prstGeom prst="rect">
            <a:avLst/>
          </a:prstGeom>
          <a:solidFill>
            <a:srgbClr val="0E1B3C"/>
          </a:solidFill>
        </p:spPr>
        <p:txBody>
          <a:bodyPr wrap="square" lIns="0" tIns="149860" rIns="0" bIns="0" rtlCol="0" vert="horz">
            <a:spAutoFit/>
          </a:bodyPr>
          <a:lstStyle/>
          <a:p>
            <a:pPr marL="147955">
              <a:lnSpc>
                <a:spcPct val="100000"/>
              </a:lnSpc>
              <a:spcBef>
                <a:spcPts val="1180"/>
              </a:spcBef>
            </a:pPr>
            <a:r>
              <a:rPr dirty="0" sz="1550" spc="30" b="1">
                <a:solidFill>
                  <a:srgbClr val="F5A622"/>
                </a:solidFill>
                <a:latin typeface="Cambria"/>
                <a:cs typeface="Cambria"/>
              </a:rPr>
              <a:t>T1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1863" y="1968563"/>
            <a:ext cx="20935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1">
                <a:solidFill>
                  <a:srgbClr val="1B2340"/>
                </a:solidFill>
                <a:latin typeface="Calibri"/>
                <a:cs typeface="Calibri"/>
              </a:rPr>
              <a:t>Data</a:t>
            </a:r>
            <a:r>
              <a:rPr dirty="0" sz="1400" spc="-50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B2340"/>
                </a:solidFill>
                <a:latin typeface="Calibri"/>
                <a:cs typeface="Calibri"/>
              </a:rPr>
              <a:t>Cleaning</a:t>
            </a:r>
            <a:r>
              <a:rPr dirty="0" sz="1400" spc="-20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B2340"/>
                </a:solidFill>
                <a:latin typeface="Calibri"/>
                <a:cs typeface="Calibri"/>
              </a:rPr>
              <a:t>&amp;</a:t>
            </a:r>
            <a:r>
              <a:rPr dirty="0" sz="1400" spc="-45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B2340"/>
                </a:solidFill>
                <a:latin typeface="Calibri"/>
                <a:cs typeface="Calibri"/>
              </a:rPr>
              <a:t>Exploration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52950" y="1562036"/>
            <a:ext cx="4157979" cy="1148080"/>
            <a:chOff x="4552950" y="1562036"/>
            <a:chExt cx="4157979" cy="114808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2950" y="1562036"/>
              <a:ext cx="4157726" cy="114776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72076" y="1652651"/>
              <a:ext cx="3924300" cy="914400"/>
            </a:xfrm>
            <a:custGeom>
              <a:avLst/>
              <a:gdLst/>
              <a:ahLst/>
              <a:cxnLst/>
              <a:rect l="l" t="t" r="r" b="b"/>
              <a:pathLst>
                <a:path w="3924300" h="914400">
                  <a:moveTo>
                    <a:pt x="3832859" y="0"/>
                  </a:moveTo>
                  <a:lnTo>
                    <a:pt x="91312" y="0"/>
                  </a:lnTo>
                  <a:lnTo>
                    <a:pt x="55774" y="7177"/>
                  </a:lnTo>
                  <a:lnTo>
                    <a:pt x="26749" y="26749"/>
                  </a:lnTo>
                  <a:lnTo>
                    <a:pt x="7177" y="55774"/>
                  </a:lnTo>
                  <a:lnTo>
                    <a:pt x="0" y="91312"/>
                  </a:lnTo>
                  <a:lnTo>
                    <a:pt x="0" y="822960"/>
                  </a:lnTo>
                  <a:lnTo>
                    <a:pt x="7177" y="858518"/>
                  </a:lnTo>
                  <a:lnTo>
                    <a:pt x="26749" y="887587"/>
                  </a:lnTo>
                  <a:lnTo>
                    <a:pt x="55774" y="907202"/>
                  </a:lnTo>
                  <a:lnTo>
                    <a:pt x="91312" y="914400"/>
                  </a:lnTo>
                  <a:lnTo>
                    <a:pt x="3832859" y="914400"/>
                  </a:lnTo>
                  <a:lnTo>
                    <a:pt x="3868418" y="907202"/>
                  </a:lnTo>
                  <a:lnTo>
                    <a:pt x="3897487" y="887587"/>
                  </a:lnTo>
                  <a:lnTo>
                    <a:pt x="3917102" y="858518"/>
                  </a:lnTo>
                  <a:lnTo>
                    <a:pt x="3924300" y="822960"/>
                  </a:lnTo>
                  <a:lnTo>
                    <a:pt x="3924300" y="91312"/>
                  </a:lnTo>
                  <a:lnTo>
                    <a:pt x="3917102" y="55774"/>
                  </a:lnTo>
                  <a:lnTo>
                    <a:pt x="3897487" y="26749"/>
                  </a:lnTo>
                  <a:lnTo>
                    <a:pt x="3868418" y="7177"/>
                  </a:lnTo>
                  <a:lnTo>
                    <a:pt x="3832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72076" y="1652651"/>
              <a:ext cx="3924300" cy="914400"/>
            </a:xfrm>
            <a:custGeom>
              <a:avLst/>
              <a:gdLst/>
              <a:ahLst/>
              <a:cxnLst/>
              <a:rect l="l" t="t" r="r" b="b"/>
              <a:pathLst>
                <a:path w="3924300" h="914400">
                  <a:moveTo>
                    <a:pt x="0" y="91312"/>
                  </a:moveTo>
                  <a:lnTo>
                    <a:pt x="7177" y="55774"/>
                  </a:lnTo>
                  <a:lnTo>
                    <a:pt x="26749" y="26749"/>
                  </a:lnTo>
                  <a:lnTo>
                    <a:pt x="55774" y="7177"/>
                  </a:lnTo>
                  <a:lnTo>
                    <a:pt x="91312" y="0"/>
                  </a:lnTo>
                  <a:lnTo>
                    <a:pt x="3832859" y="0"/>
                  </a:lnTo>
                  <a:lnTo>
                    <a:pt x="3868418" y="7177"/>
                  </a:lnTo>
                  <a:lnTo>
                    <a:pt x="3897487" y="26749"/>
                  </a:lnTo>
                  <a:lnTo>
                    <a:pt x="3917102" y="55774"/>
                  </a:lnTo>
                  <a:lnTo>
                    <a:pt x="3924300" y="91312"/>
                  </a:lnTo>
                  <a:lnTo>
                    <a:pt x="3924300" y="822960"/>
                  </a:lnTo>
                  <a:lnTo>
                    <a:pt x="3917102" y="858518"/>
                  </a:lnTo>
                  <a:lnTo>
                    <a:pt x="3897487" y="887587"/>
                  </a:lnTo>
                  <a:lnTo>
                    <a:pt x="3868418" y="907202"/>
                  </a:lnTo>
                  <a:lnTo>
                    <a:pt x="3832859" y="914400"/>
                  </a:lnTo>
                  <a:lnTo>
                    <a:pt x="91312" y="914400"/>
                  </a:lnTo>
                  <a:lnTo>
                    <a:pt x="55774" y="907202"/>
                  </a:lnTo>
                  <a:lnTo>
                    <a:pt x="26749" y="887587"/>
                  </a:lnTo>
                  <a:lnTo>
                    <a:pt x="7177" y="858518"/>
                  </a:lnTo>
                  <a:lnTo>
                    <a:pt x="0" y="822960"/>
                  </a:lnTo>
                  <a:lnTo>
                    <a:pt x="0" y="913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848225" y="1828800"/>
            <a:ext cx="542925" cy="552450"/>
          </a:xfrm>
          <a:prstGeom prst="rect">
            <a:avLst/>
          </a:prstGeom>
          <a:solidFill>
            <a:srgbClr val="0E1B3C"/>
          </a:solidFill>
        </p:spPr>
        <p:txBody>
          <a:bodyPr wrap="square" lIns="0" tIns="149860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180"/>
              </a:spcBef>
            </a:pPr>
            <a:r>
              <a:rPr dirty="0" sz="1550" spc="30" b="1">
                <a:solidFill>
                  <a:srgbClr val="F5A622"/>
                </a:solidFill>
                <a:latin typeface="Cambria"/>
                <a:cs typeface="Cambria"/>
              </a:rPr>
              <a:t>T2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70854" y="1968563"/>
            <a:ext cx="26904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1">
                <a:solidFill>
                  <a:srgbClr val="1B2340"/>
                </a:solidFill>
                <a:latin typeface="Calibri"/>
                <a:cs typeface="Calibri"/>
              </a:rPr>
              <a:t>Exploratory</a:t>
            </a:r>
            <a:r>
              <a:rPr dirty="0" sz="1400" spc="-20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B2340"/>
                </a:solidFill>
                <a:latin typeface="Calibri"/>
                <a:cs typeface="Calibri"/>
              </a:rPr>
              <a:t>Data</a:t>
            </a:r>
            <a:r>
              <a:rPr dirty="0" sz="1400" spc="-45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B2340"/>
                </a:solidFill>
                <a:latin typeface="Calibri"/>
                <a:cs typeface="Calibri"/>
              </a:rPr>
              <a:t>Analysis</a:t>
            </a:r>
            <a:r>
              <a:rPr dirty="0" sz="1400" spc="15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B2340"/>
                </a:solidFill>
                <a:latin typeface="Calibri"/>
                <a:cs typeface="Calibri"/>
              </a:rPr>
              <a:t>&amp;</a:t>
            </a:r>
            <a:r>
              <a:rPr dirty="0" sz="1400" spc="-40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B2340"/>
                </a:solidFill>
                <a:latin typeface="Calibri"/>
                <a:cs typeface="Calibri"/>
              </a:rPr>
              <a:t>Insights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8150" y="2657538"/>
            <a:ext cx="4157979" cy="1148080"/>
            <a:chOff x="438150" y="2657538"/>
            <a:chExt cx="4157979" cy="114808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50" y="2657538"/>
              <a:ext cx="4157726" cy="11477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57212" y="2748026"/>
              <a:ext cx="3924935" cy="914400"/>
            </a:xfrm>
            <a:custGeom>
              <a:avLst/>
              <a:gdLst/>
              <a:ahLst/>
              <a:cxnLst/>
              <a:rect l="l" t="t" r="r" b="b"/>
              <a:pathLst>
                <a:path w="3924935" h="914400">
                  <a:moveTo>
                    <a:pt x="3832923" y="0"/>
                  </a:moveTo>
                  <a:lnTo>
                    <a:pt x="91440" y="0"/>
                  </a:lnTo>
                  <a:lnTo>
                    <a:pt x="55849" y="7177"/>
                  </a:lnTo>
                  <a:lnTo>
                    <a:pt x="26784" y="26749"/>
                  </a:lnTo>
                  <a:lnTo>
                    <a:pt x="7186" y="55774"/>
                  </a:lnTo>
                  <a:lnTo>
                    <a:pt x="0" y="91312"/>
                  </a:lnTo>
                  <a:lnTo>
                    <a:pt x="0" y="822960"/>
                  </a:lnTo>
                  <a:lnTo>
                    <a:pt x="7186" y="858518"/>
                  </a:lnTo>
                  <a:lnTo>
                    <a:pt x="26784" y="887587"/>
                  </a:lnTo>
                  <a:lnTo>
                    <a:pt x="55849" y="907202"/>
                  </a:lnTo>
                  <a:lnTo>
                    <a:pt x="91440" y="914400"/>
                  </a:lnTo>
                  <a:lnTo>
                    <a:pt x="3832923" y="914400"/>
                  </a:lnTo>
                  <a:lnTo>
                    <a:pt x="3868481" y="907202"/>
                  </a:lnTo>
                  <a:lnTo>
                    <a:pt x="3897550" y="887587"/>
                  </a:lnTo>
                  <a:lnTo>
                    <a:pt x="3917166" y="858518"/>
                  </a:lnTo>
                  <a:lnTo>
                    <a:pt x="3924363" y="822960"/>
                  </a:lnTo>
                  <a:lnTo>
                    <a:pt x="3924363" y="91312"/>
                  </a:lnTo>
                  <a:lnTo>
                    <a:pt x="3917166" y="55774"/>
                  </a:lnTo>
                  <a:lnTo>
                    <a:pt x="3897550" y="26749"/>
                  </a:lnTo>
                  <a:lnTo>
                    <a:pt x="3868481" y="7177"/>
                  </a:lnTo>
                  <a:lnTo>
                    <a:pt x="38329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57212" y="2748026"/>
              <a:ext cx="3924935" cy="914400"/>
            </a:xfrm>
            <a:custGeom>
              <a:avLst/>
              <a:gdLst/>
              <a:ahLst/>
              <a:cxnLst/>
              <a:rect l="l" t="t" r="r" b="b"/>
              <a:pathLst>
                <a:path w="3924935" h="914400">
                  <a:moveTo>
                    <a:pt x="0" y="91312"/>
                  </a:moveTo>
                  <a:lnTo>
                    <a:pt x="7186" y="55774"/>
                  </a:lnTo>
                  <a:lnTo>
                    <a:pt x="26784" y="26749"/>
                  </a:lnTo>
                  <a:lnTo>
                    <a:pt x="55849" y="7177"/>
                  </a:lnTo>
                  <a:lnTo>
                    <a:pt x="91440" y="0"/>
                  </a:lnTo>
                  <a:lnTo>
                    <a:pt x="3832923" y="0"/>
                  </a:lnTo>
                  <a:lnTo>
                    <a:pt x="3868481" y="7177"/>
                  </a:lnTo>
                  <a:lnTo>
                    <a:pt x="3897550" y="26749"/>
                  </a:lnTo>
                  <a:lnTo>
                    <a:pt x="3917166" y="55774"/>
                  </a:lnTo>
                  <a:lnTo>
                    <a:pt x="3924363" y="91312"/>
                  </a:lnTo>
                  <a:lnTo>
                    <a:pt x="3924363" y="822960"/>
                  </a:lnTo>
                  <a:lnTo>
                    <a:pt x="3917166" y="858518"/>
                  </a:lnTo>
                  <a:lnTo>
                    <a:pt x="3897550" y="887587"/>
                  </a:lnTo>
                  <a:lnTo>
                    <a:pt x="3868481" y="907202"/>
                  </a:lnTo>
                  <a:lnTo>
                    <a:pt x="3832923" y="914400"/>
                  </a:lnTo>
                  <a:lnTo>
                    <a:pt x="91440" y="914400"/>
                  </a:lnTo>
                  <a:lnTo>
                    <a:pt x="55849" y="907202"/>
                  </a:lnTo>
                  <a:lnTo>
                    <a:pt x="26784" y="887587"/>
                  </a:lnTo>
                  <a:lnTo>
                    <a:pt x="7186" y="858518"/>
                  </a:lnTo>
                  <a:lnTo>
                    <a:pt x="0" y="822960"/>
                  </a:lnTo>
                  <a:lnTo>
                    <a:pt x="0" y="913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33425" y="2924175"/>
            <a:ext cx="542925" cy="552450"/>
          </a:xfrm>
          <a:prstGeom prst="rect">
            <a:avLst/>
          </a:prstGeom>
          <a:solidFill>
            <a:srgbClr val="0E1B3C"/>
          </a:solidFill>
        </p:spPr>
        <p:txBody>
          <a:bodyPr wrap="square" lIns="0" tIns="153670" rIns="0" bIns="0" rtlCol="0" vert="horz">
            <a:spAutoFit/>
          </a:bodyPr>
          <a:lstStyle/>
          <a:p>
            <a:pPr marL="147955">
              <a:lnSpc>
                <a:spcPct val="100000"/>
              </a:lnSpc>
              <a:spcBef>
                <a:spcPts val="1210"/>
              </a:spcBef>
            </a:pPr>
            <a:r>
              <a:rPr dirty="0" sz="1550" spc="30" b="1">
                <a:solidFill>
                  <a:srgbClr val="F5A622"/>
                </a:solidFill>
                <a:latin typeface="Cambria"/>
                <a:cs typeface="Cambria"/>
              </a:rPr>
              <a:t>T3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51863" y="2960687"/>
            <a:ext cx="2434590" cy="4629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dirty="0" sz="1400" spc="-10" b="1">
                <a:solidFill>
                  <a:srgbClr val="1B2340"/>
                </a:solidFill>
                <a:latin typeface="Calibri"/>
                <a:cs typeface="Calibri"/>
              </a:rPr>
              <a:t>Deep-</a:t>
            </a:r>
            <a:r>
              <a:rPr dirty="0" sz="1400" b="1">
                <a:solidFill>
                  <a:srgbClr val="1B2340"/>
                </a:solidFill>
                <a:latin typeface="Calibri"/>
                <a:cs typeface="Calibri"/>
              </a:rPr>
              <a:t>Dive</a:t>
            </a:r>
            <a:r>
              <a:rPr dirty="0" sz="1400" spc="20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B2340"/>
                </a:solidFill>
                <a:latin typeface="Calibri"/>
                <a:cs typeface="Calibri"/>
              </a:rPr>
              <a:t>Analysis</a:t>
            </a:r>
            <a:r>
              <a:rPr dirty="0" sz="1400" spc="-50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B2340"/>
                </a:solidFill>
                <a:latin typeface="Calibri"/>
                <a:cs typeface="Calibri"/>
              </a:rPr>
              <a:t>&amp;</a:t>
            </a:r>
            <a:r>
              <a:rPr dirty="0" sz="1400" spc="40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B2340"/>
                </a:solidFill>
                <a:latin typeface="Calibri"/>
                <a:cs typeface="Calibri"/>
              </a:rPr>
              <a:t>Interactive Dashboarding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52950" y="2657538"/>
            <a:ext cx="4157979" cy="1148080"/>
            <a:chOff x="4552950" y="2657538"/>
            <a:chExt cx="4157979" cy="114808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950" y="2657538"/>
              <a:ext cx="4157726" cy="114776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672076" y="2748026"/>
              <a:ext cx="3924300" cy="914400"/>
            </a:xfrm>
            <a:custGeom>
              <a:avLst/>
              <a:gdLst/>
              <a:ahLst/>
              <a:cxnLst/>
              <a:rect l="l" t="t" r="r" b="b"/>
              <a:pathLst>
                <a:path w="3924300" h="914400">
                  <a:moveTo>
                    <a:pt x="3832859" y="0"/>
                  </a:moveTo>
                  <a:lnTo>
                    <a:pt x="91312" y="0"/>
                  </a:lnTo>
                  <a:lnTo>
                    <a:pt x="55774" y="7177"/>
                  </a:lnTo>
                  <a:lnTo>
                    <a:pt x="26749" y="26749"/>
                  </a:lnTo>
                  <a:lnTo>
                    <a:pt x="7177" y="55774"/>
                  </a:lnTo>
                  <a:lnTo>
                    <a:pt x="0" y="91312"/>
                  </a:lnTo>
                  <a:lnTo>
                    <a:pt x="0" y="822960"/>
                  </a:lnTo>
                  <a:lnTo>
                    <a:pt x="7177" y="858518"/>
                  </a:lnTo>
                  <a:lnTo>
                    <a:pt x="26749" y="887587"/>
                  </a:lnTo>
                  <a:lnTo>
                    <a:pt x="55774" y="907202"/>
                  </a:lnTo>
                  <a:lnTo>
                    <a:pt x="91312" y="914400"/>
                  </a:lnTo>
                  <a:lnTo>
                    <a:pt x="3832859" y="914400"/>
                  </a:lnTo>
                  <a:lnTo>
                    <a:pt x="3868418" y="907202"/>
                  </a:lnTo>
                  <a:lnTo>
                    <a:pt x="3897487" y="887587"/>
                  </a:lnTo>
                  <a:lnTo>
                    <a:pt x="3917102" y="858518"/>
                  </a:lnTo>
                  <a:lnTo>
                    <a:pt x="3924300" y="822960"/>
                  </a:lnTo>
                  <a:lnTo>
                    <a:pt x="3924300" y="91312"/>
                  </a:lnTo>
                  <a:lnTo>
                    <a:pt x="3917102" y="55774"/>
                  </a:lnTo>
                  <a:lnTo>
                    <a:pt x="3897487" y="26749"/>
                  </a:lnTo>
                  <a:lnTo>
                    <a:pt x="3868418" y="7177"/>
                  </a:lnTo>
                  <a:lnTo>
                    <a:pt x="3832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672076" y="2748026"/>
              <a:ext cx="3924300" cy="914400"/>
            </a:xfrm>
            <a:custGeom>
              <a:avLst/>
              <a:gdLst/>
              <a:ahLst/>
              <a:cxnLst/>
              <a:rect l="l" t="t" r="r" b="b"/>
              <a:pathLst>
                <a:path w="3924300" h="914400">
                  <a:moveTo>
                    <a:pt x="0" y="91312"/>
                  </a:moveTo>
                  <a:lnTo>
                    <a:pt x="7177" y="55774"/>
                  </a:lnTo>
                  <a:lnTo>
                    <a:pt x="26749" y="26749"/>
                  </a:lnTo>
                  <a:lnTo>
                    <a:pt x="55774" y="7177"/>
                  </a:lnTo>
                  <a:lnTo>
                    <a:pt x="91312" y="0"/>
                  </a:lnTo>
                  <a:lnTo>
                    <a:pt x="3832859" y="0"/>
                  </a:lnTo>
                  <a:lnTo>
                    <a:pt x="3868418" y="7177"/>
                  </a:lnTo>
                  <a:lnTo>
                    <a:pt x="3897487" y="26749"/>
                  </a:lnTo>
                  <a:lnTo>
                    <a:pt x="3917102" y="55774"/>
                  </a:lnTo>
                  <a:lnTo>
                    <a:pt x="3924300" y="91312"/>
                  </a:lnTo>
                  <a:lnTo>
                    <a:pt x="3924300" y="822960"/>
                  </a:lnTo>
                  <a:lnTo>
                    <a:pt x="3917102" y="858518"/>
                  </a:lnTo>
                  <a:lnTo>
                    <a:pt x="3897487" y="887587"/>
                  </a:lnTo>
                  <a:lnTo>
                    <a:pt x="3868418" y="907202"/>
                  </a:lnTo>
                  <a:lnTo>
                    <a:pt x="3832859" y="914400"/>
                  </a:lnTo>
                  <a:lnTo>
                    <a:pt x="91312" y="914400"/>
                  </a:lnTo>
                  <a:lnTo>
                    <a:pt x="55774" y="907202"/>
                  </a:lnTo>
                  <a:lnTo>
                    <a:pt x="26749" y="887587"/>
                  </a:lnTo>
                  <a:lnTo>
                    <a:pt x="7177" y="858518"/>
                  </a:lnTo>
                  <a:lnTo>
                    <a:pt x="0" y="822960"/>
                  </a:lnTo>
                  <a:lnTo>
                    <a:pt x="0" y="913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848225" y="2924175"/>
            <a:ext cx="542925" cy="552450"/>
          </a:xfrm>
          <a:prstGeom prst="rect">
            <a:avLst/>
          </a:prstGeom>
          <a:solidFill>
            <a:srgbClr val="0E1B3C"/>
          </a:solidFill>
        </p:spPr>
        <p:txBody>
          <a:bodyPr wrap="square" lIns="0" tIns="153670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210"/>
              </a:spcBef>
            </a:pPr>
            <a:r>
              <a:rPr dirty="0" sz="1550" spc="30" b="1">
                <a:solidFill>
                  <a:srgbClr val="F5A622"/>
                </a:solidFill>
                <a:latin typeface="Cambria"/>
                <a:cs typeface="Cambria"/>
              </a:rPr>
              <a:t>T4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70854" y="2960687"/>
            <a:ext cx="2185035" cy="4629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dirty="0" sz="1400" spc="-10" b="1">
                <a:solidFill>
                  <a:srgbClr val="1B2340"/>
                </a:solidFill>
                <a:latin typeface="Calibri"/>
                <a:cs typeface="Calibri"/>
              </a:rPr>
              <a:t>Data</a:t>
            </a:r>
            <a:r>
              <a:rPr dirty="0" sz="1400" spc="-55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B2340"/>
                </a:solidFill>
                <a:latin typeface="Calibri"/>
                <a:cs typeface="Calibri"/>
              </a:rPr>
              <a:t>Storytelling</a:t>
            </a:r>
            <a:r>
              <a:rPr dirty="0" sz="1400" spc="-30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B2340"/>
                </a:solidFill>
                <a:latin typeface="Calibri"/>
                <a:cs typeface="Calibri"/>
              </a:rPr>
              <a:t>&amp;</a:t>
            </a:r>
            <a:r>
              <a:rPr dirty="0" sz="1400" spc="-50" b="1">
                <a:solidFill>
                  <a:srgbClr val="1B23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B2340"/>
                </a:solidFill>
                <a:latin typeface="Calibri"/>
                <a:cs typeface="Calibri"/>
              </a:rPr>
              <a:t>Statistical Validation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0862" y="4017962"/>
            <a:ext cx="8052434" cy="565785"/>
            <a:chOff x="550862" y="4017962"/>
            <a:chExt cx="8052434" cy="565785"/>
          </a:xfrm>
        </p:grpSpPr>
        <p:sp>
          <p:nvSpPr>
            <p:cNvPr id="30" name="object 30"/>
            <p:cNvSpPr/>
            <p:nvPr/>
          </p:nvSpPr>
          <p:spPr>
            <a:xfrm>
              <a:off x="557212" y="4024312"/>
              <a:ext cx="8039734" cy="553085"/>
            </a:xfrm>
            <a:custGeom>
              <a:avLst/>
              <a:gdLst/>
              <a:ahLst/>
              <a:cxnLst/>
              <a:rect l="l" t="t" r="r" b="b"/>
              <a:pathLst>
                <a:path w="8039734" h="553085">
                  <a:moveTo>
                    <a:pt x="7762938" y="0"/>
                  </a:moveTo>
                  <a:lnTo>
                    <a:pt x="276225" y="0"/>
                  </a:lnTo>
                  <a:lnTo>
                    <a:pt x="226573" y="4450"/>
                  </a:lnTo>
                  <a:lnTo>
                    <a:pt x="179842" y="17281"/>
                  </a:lnTo>
                  <a:lnTo>
                    <a:pt x="136810" y="37713"/>
                  </a:lnTo>
                  <a:lnTo>
                    <a:pt x="98257" y="64965"/>
                  </a:lnTo>
                  <a:lnTo>
                    <a:pt x="64965" y="98257"/>
                  </a:lnTo>
                  <a:lnTo>
                    <a:pt x="37713" y="136810"/>
                  </a:lnTo>
                  <a:lnTo>
                    <a:pt x="17281" y="179842"/>
                  </a:lnTo>
                  <a:lnTo>
                    <a:pt x="4450" y="226573"/>
                  </a:lnTo>
                  <a:lnTo>
                    <a:pt x="0" y="276225"/>
                  </a:lnTo>
                  <a:lnTo>
                    <a:pt x="4451" y="325879"/>
                  </a:lnTo>
                  <a:lnTo>
                    <a:pt x="17284" y="372614"/>
                  </a:lnTo>
                  <a:lnTo>
                    <a:pt x="37719" y="415648"/>
                  </a:lnTo>
                  <a:lnTo>
                    <a:pt x="64975" y="454202"/>
                  </a:lnTo>
                  <a:lnTo>
                    <a:pt x="98274" y="487496"/>
                  </a:lnTo>
                  <a:lnTo>
                    <a:pt x="136835" y="514748"/>
                  </a:lnTo>
                  <a:lnTo>
                    <a:pt x="179887" y="535180"/>
                  </a:lnTo>
                  <a:lnTo>
                    <a:pt x="226715" y="548012"/>
                  </a:lnTo>
                  <a:lnTo>
                    <a:pt x="276366" y="552462"/>
                  </a:lnTo>
                  <a:lnTo>
                    <a:pt x="7762938" y="552462"/>
                  </a:lnTo>
                  <a:lnTo>
                    <a:pt x="7812582" y="548012"/>
                  </a:lnTo>
                  <a:lnTo>
                    <a:pt x="7859311" y="535180"/>
                  </a:lnTo>
                  <a:lnTo>
                    <a:pt x="7902342" y="514748"/>
                  </a:lnTo>
                  <a:lnTo>
                    <a:pt x="7940895" y="487496"/>
                  </a:lnTo>
                  <a:lnTo>
                    <a:pt x="7974189" y="454202"/>
                  </a:lnTo>
                  <a:lnTo>
                    <a:pt x="8001444" y="415648"/>
                  </a:lnTo>
                  <a:lnTo>
                    <a:pt x="8021878" y="372614"/>
                  </a:lnTo>
                  <a:lnTo>
                    <a:pt x="8034712" y="325879"/>
                  </a:lnTo>
                  <a:lnTo>
                    <a:pt x="8039163" y="276225"/>
                  </a:lnTo>
                  <a:lnTo>
                    <a:pt x="8034712" y="226573"/>
                  </a:lnTo>
                  <a:lnTo>
                    <a:pt x="8021878" y="179842"/>
                  </a:lnTo>
                  <a:lnTo>
                    <a:pt x="8001444" y="136810"/>
                  </a:lnTo>
                  <a:lnTo>
                    <a:pt x="7974189" y="98257"/>
                  </a:lnTo>
                  <a:lnTo>
                    <a:pt x="7940895" y="64965"/>
                  </a:lnTo>
                  <a:lnTo>
                    <a:pt x="7902342" y="37713"/>
                  </a:lnTo>
                  <a:lnTo>
                    <a:pt x="7859311" y="17281"/>
                  </a:lnTo>
                  <a:lnTo>
                    <a:pt x="7812582" y="4450"/>
                  </a:lnTo>
                  <a:lnTo>
                    <a:pt x="7762938" y="0"/>
                  </a:lnTo>
                  <a:close/>
                </a:path>
              </a:pathLst>
            </a:custGeom>
            <a:solidFill>
              <a:srgbClr val="0E1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57212" y="4024312"/>
              <a:ext cx="8039734" cy="553085"/>
            </a:xfrm>
            <a:custGeom>
              <a:avLst/>
              <a:gdLst/>
              <a:ahLst/>
              <a:cxnLst/>
              <a:rect l="l" t="t" r="r" b="b"/>
              <a:pathLst>
                <a:path w="8039734" h="553085">
                  <a:moveTo>
                    <a:pt x="0" y="276225"/>
                  </a:moveTo>
                  <a:lnTo>
                    <a:pt x="4450" y="226573"/>
                  </a:lnTo>
                  <a:lnTo>
                    <a:pt x="17281" y="179842"/>
                  </a:lnTo>
                  <a:lnTo>
                    <a:pt x="37713" y="136810"/>
                  </a:lnTo>
                  <a:lnTo>
                    <a:pt x="64965" y="98257"/>
                  </a:lnTo>
                  <a:lnTo>
                    <a:pt x="98257" y="64965"/>
                  </a:lnTo>
                  <a:lnTo>
                    <a:pt x="136810" y="37713"/>
                  </a:lnTo>
                  <a:lnTo>
                    <a:pt x="179842" y="17281"/>
                  </a:lnTo>
                  <a:lnTo>
                    <a:pt x="226573" y="4450"/>
                  </a:lnTo>
                  <a:lnTo>
                    <a:pt x="276225" y="0"/>
                  </a:lnTo>
                  <a:lnTo>
                    <a:pt x="7762938" y="0"/>
                  </a:lnTo>
                  <a:lnTo>
                    <a:pt x="7812582" y="4450"/>
                  </a:lnTo>
                  <a:lnTo>
                    <a:pt x="7859311" y="17281"/>
                  </a:lnTo>
                  <a:lnTo>
                    <a:pt x="7902342" y="37713"/>
                  </a:lnTo>
                  <a:lnTo>
                    <a:pt x="7940895" y="64965"/>
                  </a:lnTo>
                  <a:lnTo>
                    <a:pt x="7974189" y="98257"/>
                  </a:lnTo>
                  <a:lnTo>
                    <a:pt x="8001444" y="136810"/>
                  </a:lnTo>
                  <a:lnTo>
                    <a:pt x="8021878" y="179842"/>
                  </a:lnTo>
                  <a:lnTo>
                    <a:pt x="8034712" y="226573"/>
                  </a:lnTo>
                  <a:lnTo>
                    <a:pt x="8039163" y="276225"/>
                  </a:lnTo>
                  <a:lnTo>
                    <a:pt x="8034712" y="325879"/>
                  </a:lnTo>
                  <a:lnTo>
                    <a:pt x="8021878" y="372614"/>
                  </a:lnTo>
                  <a:lnTo>
                    <a:pt x="8001444" y="415648"/>
                  </a:lnTo>
                  <a:lnTo>
                    <a:pt x="7974189" y="454202"/>
                  </a:lnTo>
                  <a:lnTo>
                    <a:pt x="7940895" y="487496"/>
                  </a:lnTo>
                  <a:lnTo>
                    <a:pt x="7902342" y="514748"/>
                  </a:lnTo>
                  <a:lnTo>
                    <a:pt x="7859311" y="535180"/>
                  </a:lnTo>
                  <a:lnTo>
                    <a:pt x="7812582" y="548012"/>
                  </a:lnTo>
                  <a:lnTo>
                    <a:pt x="7762938" y="552462"/>
                  </a:lnTo>
                  <a:lnTo>
                    <a:pt x="276225" y="552450"/>
                  </a:lnTo>
                  <a:lnTo>
                    <a:pt x="226573" y="547999"/>
                  </a:lnTo>
                  <a:lnTo>
                    <a:pt x="179842" y="535168"/>
                  </a:lnTo>
                  <a:lnTo>
                    <a:pt x="136810" y="514736"/>
                  </a:lnTo>
                  <a:lnTo>
                    <a:pt x="98257" y="487484"/>
                  </a:lnTo>
                  <a:lnTo>
                    <a:pt x="64965" y="454192"/>
                  </a:lnTo>
                  <a:lnTo>
                    <a:pt x="37713" y="415639"/>
                  </a:lnTo>
                  <a:lnTo>
                    <a:pt x="17281" y="372607"/>
                  </a:lnTo>
                  <a:lnTo>
                    <a:pt x="4450" y="325876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0E1B3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150" y="4162425"/>
              <a:ext cx="276225" cy="27622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268730" y="4184015"/>
            <a:ext cx="470090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github.com/vyshnavi-1550/Vyshnavi-DataAnalyst-Internship-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Portfolio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dirty="0" spc="-110"/>
              <a:t> </a:t>
            </a:r>
            <a:r>
              <a:rPr dirty="0" spc="-10"/>
              <a:t>Learnings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1313180"/>
            <a:ext cx="542925" cy="4833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6575" y="1910714"/>
            <a:ext cx="7990205" cy="991869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85"/>
              </a:spcBef>
            </a:pP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This</a:t>
            </a:r>
            <a:r>
              <a:rPr dirty="0" sz="1550" spc="9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internship</a:t>
            </a:r>
            <a:r>
              <a:rPr dirty="0" sz="1550" spc="8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taught</a:t>
            </a:r>
            <a:r>
              <a:rPr dirty="0" sz="1550" spc="7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me</a:t>
            </a:r>
            <a:r>
              <a:rPr dirty="0" sz="1550" spc="12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how</a:t>
            </a:r>
            <a:r>
              <a:rPr dirty="0" sz="1550" spc="7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to</a:t>
            </a:r>
            <a:r>
              <a:rPr dirty="0" sz="1550" spc="12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move</a:t>
            </a:r>
            <a:r>
              <a:rPr dirty="0" sz="1550" spc="4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beyond</a:t>
            </a:r>
            <a:r>
              <a:rPr dirty="0" sz="1550" spc="10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just</a:t>
            </a:r>
            <a:r>
              <a:rPr dirty="0" sz="1550" spc="7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building</a:t>
            </a:r>
            <a:r>
              <a:rPr dirty="0" sz="1550" spc="10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charts</a:t>
            </a:r>
            <a:r>
              <a:rPr dirty="0" sz="1550" spc="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to</a:t>
            </a:r>
            <a:r>
              <a:rPr dirty="0" sz="1550" spc="4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asking</a:t>
            </a:r>
            <a:r>
              <a:rPr dirty="0" sz="1550" spc="9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the</a:t>
            </a:r>
            <a:r>
              <a:rPr dirty="0" sz="1550" spc="4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right</a:t>
            </a:r>
            <a:r>
              <a:rPr dirty="0" sz="1550" spc="7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spc="-10" i="1">
                <a:solidFill>
                  <a:srgbClr val="1B2340"/>
                </a:solidFill>
                <a:latin typeface="Cambria"/>
                <a:cs typeface="Cambria"/>
              </a:rPr>
              <a:t>business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questions</a:t>
            </a:r>
            <a:r>
              <a:rPr dirty="0" sz="1550" spc="10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first.</a:t>
            </a:r>
            <a:r>
              <a:rPr dirty="0" sz="1550" spc="9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Defining</a:t>
            </a:r>
            <a:r>
              <a:rPr dirty="0" sz="1550" spc="114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clear</a:t>
            </a:r>
            <a:r>
              <a:rPr dirty="0" sz="1550" spc="15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KPIs</a:t>
            </a:r>
            <a:r>
              <a:rPr dirty="0" sz="1550" spc="11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early</a:t>
            </a:r>
            <a:r>
              <a:rPr dirty="0" sz="1550" spc="13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shaped</a:t>
            </a:r>
            <a:r>
              <a:rPr dirty="0" sz="1550" spc="114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every</a:t>
            </a:r>
            <a:r>
              <a:rPr dirty="0" sz="1550" spc="5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later</a:t>
            </a:r>
            <a:r>
              <a:rPr dirty="0" sz="1550" spc="5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decision.</a:t>
            </a:r>
            <a:r>
              <a:rPr dirty="0" sz="1550" spc="9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The</a:t>
            </a:r>
            <a:r>
              <a:rPr dirty="0" sz="1550" spc="14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most</a:t>
            </a:r>
            <a:r>
              <a:rPr dirty="0" sz="1550" spc="9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valuable</a:t>
            </a:r>
            <a:r>
              <a:rPr dirty="0" sz="1550" spc="6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spc="-10" i="1">
                <a:solidFill>
                  <a:srgbClr val="1B2340"/>
                </a:solidFill>
                <a:latin typeface="Cambria"/>
                <a:cs typeface="Cambria"/>
              </a:rPr>
              <a:t>shift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was</a:t>
            </a:r>
            <a:r>
              <a:rPr dirty="0" sz="1550" spc="5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learning</a:t>
            </a:r>
            <a:r>
              <a:rPr dirty="0" sz="1550" spc="5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to</a:t>
            </a:r>
            <a:r>
              <a:rPr dirty="0" sz="1550" spc="8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validate</a:t>
            </a:r>
            <a:r>
              <a:rPr dirty="0" sz="1550" spc="9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findings</a:t>
            </a:r>
            <a:r>
              <a:rPr dirty="0" sz="1550" spc="5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statistically</a:t>
            </a:r>
            <a:r>
              <a:rPr dirty="0" sz="1550" spc="8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rather</a:t>
            </a:r>
            <a:r>
              <a:rPr dirty="0" sz="1550" spc="19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than</a:t>
            </a:r>
            <a:r>
              <a:rPr dirty="0" sz="1550" spc="22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relying</a:t>
            </a:r>
            <a:r>
              <a:rPr dirty="0" sz="1550" spc="5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on</a:t>
            </a:r>
            <a:r>
              <a:rPr dirty="0" sz="1550" spc="12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visual</a:t>
            </a:r>
            <a:r>
              <a:rPr dirty="0" sz="1550" spc="9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intuition</a:t>
            </a:r>
            <a:r>
              <a:rPr dirty="0" sz="1550" spc="12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spc="-10" i="1">
                <a:solidFill>
                  <a:srgbClr val="1B2340"/>
                </a:solidFill>
                <a:latin typeface="Cambria"/>
                <a:cs typeface="Cambria"/>
              </a:rPr>
              <a:t>alone,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turning</a:t>
            </a:r>
            <a:r>
              <a:rPr dirty="0" sz="1550" spc="12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an</a:t>
            </a:r>
            <a:r>
              <a:rPr dirty="0" sz="1550" spc="19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interesting</a:t>
            </a:r>
            <a:r>
              <a:rPr dirty="0" sz="1550" spc="12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pattern</a:t>
            </a:r>
            <a:r>
              <a:rPr dirty="0" sz="1550" spc="10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into</a:t>
            </a:r>
            <a:r>
              <a:rPr dirty="0" sz="1550" spc="6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a</a:t>
            </a:r>
            <a:r>
              <a:rPr dirty="0" sz="1550" spc="12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confirmed,</a:t>
            </a:r>
            <a:r>
              <a:rPr dirty="0" sz="1550" spc="105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defensible</a:t>
            </a:r>
            <a:r>
              <a:rPr dirty="0" sz="1550" spc="16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i="1">
                <a:solidFill>
                  <a:srgbClr val="1B2340"/>
                </a:solidFill>
                <a:latin typeface="Cambria"/>
                <a:cs typeface="Cambria"/>
              </a:rPr>
              <a:t>business</a:t>
            </a:r>
            <a:r>
              <a:rPr dirty="0" sz="1550" spc="120" i="1">
                <a:solidFill>
                  <a:srgbClr val="1B2340"/>
                </a:solidFill>
                <a:latin typeface="Cambria"/>
                <a:cs typeface="Cambria"/>
              </a:rPr>
              <a:t> </a:t>
            </a:r>
            <a:r>
              <a:rPr dirty="0" sz="1550" spc="-10" i="1">
                <a:solidFill>
                  <a:srgbClr val="1B2340"/>
                </a:solidFill>
                <a:latin typeface="Cambria"/>
                <a:cs typeface="Cambria"/>
              </a:rPr>
              <a:t>insight.</a:t>
            </a:r>
            <a:endParaRPr sz="155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50862" y="3560826"/>
            <a:ext cx="2566035" cy="1022350"/>
            <a:chOff x="550862" y="3560826"/>
            <a:chExt cx="2566035" cy="1022350"/>
          </a:xfrm>
        </p:grpSpPr>
        <p:sp>
          <p:nvSpPr>
            <p:cNvPr id="6" name="object 6"/>
            <p:cNvSpPr/>
            <p:nvPr/>
          </p:nvSpPr>
          <p:spPr>
            <a:xfrm>
              <a:off x="557212" y="3567176"/>
              <a:ext cx="2553335" cy="1009650"/>
            </a:xfrm>
            <a:custGeom>
              <a:avLst/>
              <a:gdLst/>
              <a:ahLst/>
              <a:cxnLst/>
              <a:rect l="l" t="t" r="r" b="b"/>
              <a:pathLst>
                <a:path w="2553335" h="1009650">
                  <a:moveTo>
                    <a:pt x="2460942" y="0"/>
                  </a:moveTo>
                  <a:lnTo>
                    <a:pt x="91782" y="0"/>
                  </a:lnTo>
                  <a:lnTo>
                    <a:pt x="56058" y="7201"/>
                  </a:lnTo>
                  <a:lnTo>
                    <a:pt x="26884" y="26844"/>
                  </a:lnTo>
                  <a:lnTo>
                    <a:pt x="7213" y="55989"/>
                  </a:lnTo>
                  <a:lnTo>
                    <a:pt x="0" y="91693"/>
                  </a:lnTo>
                  <a:lnTo>
                    <a:pt x="0" y="917803"/>
                  </a:lnTo>
                  <a:lnTo>
                    <a:pt x="7213" y="953527"/>
                  </a:lnTo>
                  <a:lnTo>
                    <a:pt x="26884" y="982702"/>
                  </a:lnTo>
                  <a:lnTo>
                    <a:pt x="56058" y="1002373"/>
                  </a:lnTo>
                  <a:lnTo>
                    <a:pt x="91782" y="1009586"/>
                  </a:lnTo>
                  <a:lnTo>
                    <a:pt x="2460942" y="1009586"/>
                  </a:lnTo>
                  <a:lnTo>
                    <a:pt x="2496667" y="1002373"/>
                  </a:lnTo>
                  <a:lnTo>
                    <a:pt x="2525855" y="982702"/>
                  </a:lnTo>
                  <a:lnTo>
                    <a:pt x="2545542" y="953527"/>
                  </a:lnTo>
                  <a:lnTo>
                    <a:pt x="2552763" y="917803"/>
                  </a:lnTo>
                  <a:lnTo>
                    <a:pt x="2552763" y="91693"/>
                  </a:lnTo>
                  <a:lnTo>
                    <a:pt x="2545542" y="55989"/>
                  </a:lnTo>
                  <a:lnTo>
                    <a:pt x="2525855" y="26844"/>
                  </a:lnTo>
                  <a:lnTo>
                    <a:pt x="2496667" y="7201"/>
                  </a:lnTo>
                  <a:lnTo>
                    <a:pt x="2460942" y="0"/>
                  </a:lnTo>
                  <a:close/>
                </a:path>
              </a:pathLst>
            </a:custGeom>
            <a:solidFill>
              <a:srgbClr val="0E1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57212" y="3567176"/>
              <a:ext cx="2553335" cy="1009650"/>
            </a:xfrm>
            <a:custGeom>
              <a:avLst/>
              <a:gdLst/>
              <a:ahLst/>
              <a:cxnLst/>
              <a:rect l="l" t="t" r="r" b="b"/>
              <a:pathLst>
                <a:path w="2553335" h="1009650">
                  <a:moveTo>
                    <a:pt x="0" y="91693"/>
                  </a:moveTo>
                  <a:lnTo>
                    <a:pt x="7213" y="55989"/>
                  </a:lnTo>
                  <a:lnTo>
                    <a:pt x="26884" y="26844"/>
                  </a:lnTo>
                  <a:lnTo>
                    <a:pt x="56058" y="7201"/>
                  </a:lnTo>
                  <a:lnTo>
                    <a:pt x="91782" y="0"/>
                  </a:lnTo>
                  <a:lnTo>
                    <a:pt x="2460942" y="0"/>
                  </a:lnTo>
                  <a:lnTo>
                    <a:pt x="2496667" y="7201"/>
                  </a:lnTo>
                  <a:lnTo>
                    <a:pt x="2525855" y="26844"/>
                  </a:lnTo>
                  <a:lnTo>
                    <a:pt x="2545542" y="55989"/>
                  </a:lnTo>
                  <a:lnTo>
                    <a:pt x="2552763" y="91693"/>
                  </a:lnTo>
                  <a:lnTo>
                    <a:pt x="2552763" y="917803"/>
                  </a:lnTo>
                  <a:lnTo>
                    <a:pt x="2545542" y="953527"/>
                  </a:lnTo>
                  <a:lnTo>
                    <a:pt x="2525855" y="982702"/>
                  </a:lnTo>
                  <a:lnTo>
                    <a:pt x="2496667" y="1002373"/>
                  </a:lnTo>
                  <a:lnTo>
                    <a:pt x="2460942" y="1009586"/>
                  </a:lnTo>
                  <a:lnTo>
                    <a:pt x="91782" y="1009586"/>
                  </a:lnTo>
                  <a:lnTo>
                    <a:pt x="56058" y="1002373"/>
                  </a:lnTo>
                  <a:lnTo>
                    <a:pt x="26884" y="982702"/>
                  </a:lnTo>
                  <a:lnTo>
                    <a:pt x="7213" y="953527"/>
                  </a:lnTo>
                  <a:lnTo>
                    <a:pt x="0" y="917803"/>
                  </a:lnTo>
                  <a:lnTo>
                    <a:pt x="0" y="91693"/>
                  </a:lnTo>
                  <a:close/>
                </a:path>
              </a:pathLst>
            </a:custGeom>
            <a:ln w="12700">
              <a:solidFill>
                <a:srgbClr val="0E1B3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19455" y="3610889"/>
            <a:ext cx="2018664" cy="65278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550" b="1">
                <a:solidFill>
                  <a:srgbClr val="F5A622"/>
                </a:solidFill>
                <a:latin typeface="Cambria"/>
                <a:cs typeface="Cambria"/>
              </a:rPr>
              <a:t>Ask</a:t>
            </a:r>
            <a:r>
              <a:rPr dirty="0" sz="1550" spc="80" b="1">
                <a:solidFill>
                  <a:srgbClr val="F5A622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5A622"/>
                </a:solidFill>
                <a:latin typeface="Cambria"/>
                <a:cs typeface="Cambria"/>
              </a:rPr>
              <a:t>first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dirty="0"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dirty="0" sz="12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question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94126" y="3560826"/>
            <a:ext cx="2565400" cy="1022350"/>
            <a:chOff x="3294126" y="3560826"/>
            <a:chExt cx="2565400" cy="1022350"/>
          </a:xfrm>
        </p:grpSpPr>
        <p:sp>
          <p:nvSpPr>
            <p:cNvPr id="10" name="object 10"/>
            <p:cNvSpPr/>
            <p:nvPr/>
          </p:nvSpPr>
          <p:spPr>
            <a:xfrm>
              <a:off x="3300476" y="3567176"/>
              <a:ext cx="2552700" cy="1009650"/>
            </a:xfrm>
            <a:custGeom>
              <a:avLst/>
              <a:gdLst/>
              <a:ahLst/>
              <a:cxnLst/>
              <a:rect l="l" t="t" r="r" b="b"/>
              <a:pathLst>
                <a:path w="2552700" h="1009650">
                  <a:moveTo>
                    <a:pt x="2460879" y="0"/>
                  </a:moveTo>
                  <a:lnTo>
                    <a:pt x="91694" y="0"/>
                  </a:lnTo>
                  <a:lnTo>
                    <a:pt x="55989" y="7201"/>
                  </a:lnTo>
                  <a:lnTo>
                    <a:pt x="26844" y="26844"/>
                  </a:lnTo>
                  <a:lnTo>
                    <a:pt x="7201" y="55989"/>
                  </a:lnTo>
                  <a:lnTo>
                    <a:pt x="0" y="91693"/>
                  </a:lnTo>
                  <a:lnTo>
                    <a:pt x="0" y="917803"/>
                  </a:lnTo>
                  <a:lnTo>
                    <a:pt x="7201" y="953527"/>
                  </a:lnTo>
                  <a:lnTo>
                    <a:pt x="26844" y="982702"/>
                  </a:lnTo>
                  <a:lnTo>
                    <a:pt x="55989" y="1002373"/>
                  </a:lnTo>
                  <a:lnTo>
                    <a:pt x="91694" y="1009586"/>
                  </a:lnTo>
                  <a:lnTo>
                    <a:pt x="2460879" y="1009586"/>
                  </a:lnTo>
                  <a:lnTo>
                    <a:pt x="2496603" y="1002373"/>
                  </a:lnTo>
                  <a:lnTo>
                    <a:pt x="2525791" y="982702"/>
                  </a:lnTo>
                  <a:lnTo>
                    <a:pt x="2545478" y="953527"/>
                  </a:lnTo>
                  <a:lnTo>
                    <a:pt x="2552700" y="917803"/>
                  </a:lnTo>
                  <a:lnTo>
                    <a:pt x="2552700" y="91693"/>
                  </a:lnTo>
                  <a:lnTo>
                    <a:pt x="2545478" y="55989"/>
                  </a:lnTo>
                  <a:lnTo>
                    <a:pt x="2525791" y="26844"/>
                  </a:lnTo>
                  <a:lnTo>
                    <a:pt x="2496603" y="7201"/>
                  </a:lnTo>
                  <a:lnTo>
                    <a:pt x="2460879" y="0"/>
                  </a:lnTo>
                  <a:close/>
                </a:path>
              </a:pathLst>
            </a:custGeom>
            <a:solidFill>
              <a:srgbClr val="0E1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00476" y="3567176"/>
              <a:ext cx="2552700" cy="1009650"/>
            </a:xfrm>
            <a:custGeom>
              <a:avLst/>
              <a:gdLst/>
              <a:ahLst/>
              <a:cxnLst/>
              <a:rect l="l" t="t" r="r" b="b"/>
              <a:pathLst>
                <a:path w="2552700" h="1009650">
                  <a:moveTo>
                    <a:pt x="0" y="91693"/>
                  </a:moveTo>
                  <a:lnTo>
                    <a:pt x="7201" y="55989"/>
                  </a:lnTo>
                  <a:lnTo>
                    <a:pt x="26844" y="26844"/>
                  </a:lnTo>
                  <a:lnTo>
                    <a:pt x="55989" y="7201"/>
                  </a:lnTo>
                  <a:lnTo>
                    <a:pt x="91694" y="0"/>
                  </a:lnTo>
                  <a:lnTo>
                    <a:pt x="2460879" y="0"/>
                  </a:lnTo>
                  <a:lnTo>
                    <a:pt x="2496603" y="7201"/>
                  </a:lnTo>
                  <a:lnTo>
                    <a:pt x="2525791" y="26844"/>
                  </a:lnTo>
                  <a:lnTo>
                    <a:pt x="2545478" y="55989"/>
                  </a:lnTo>
                  <a:lnTo>
                    <a:pt x="2552700" y="91693"/>
                  </a:lnTo>
                  <a:lnTo>
                    <a:pt x="2552700" y="917803"/>
                  </a:lnTo>
                  <a:lnTo>
                    <a:pt x="2545478" y="953527"/>
                  </a:lnTo>
                  <a:lnTo>
                    <a:pt x="2525791" y="982702"/>
                  </a:lnTo>
                  <a:lnTo>
                    <a:pt x="2496603" y="1002373"/>
                  </a:lnTo>
                  <a:lnTo>
                    <a:pt x="2460879" y="1009586"/>
                  </a:lnTo>
                  <a:lnTo>
                    <a:pt x="91694" y="1009586"/>
                  </a:lnTo>
                  <a:lnTo>
                    <a:pt x="55989" y="1002373"/>
                  </a:lnTo>
                  <a:lnTo>
                    <a:pt x="26844" y="982702"/>
                  </a:lnTo>
                  <a:lnTo>
                    <a:pt x="7201" y="953527"/>
                  </a:lnTo>
                  <a:lnTo>
                    <a:pt x="0" y="917803"/>
                  </a:lnTo>
                  <a:lnTo>
                    <a:pt x="0" y="91693"/>
                  </a:lnTo>
                  <a:close/>
                </a:path>
              </a:pathLst>
            </a:custGeom>
            <a:ln w="12700">
              <a:solidFill>
                <a:srgbClr val="0E1B3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465576" y="3610889"/>
            <a:ext cx="1708150" cy="83375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550" b="1">
                <a:solidFill>
                  <a:srgbClr val="F5A622"/>
                </a:solidFill>
                <a:latin typeface="Cambria"/>
                <a:cs typeface="Cambria"/>
              </a:rPr>
              <a:t>Define</a:t>
            </a:r>
            <a:r>
              <a:rPr dirty="0" sz="1550" spc="135" b="1">
                <a:solidFill>
                  <a:srgbClr val="F5A622"/>
                </a:solidFill>
                <a:latin typeface="Cambria"/>
                <a:cs typeface="Cambria"/>
              </a:rPr>
              <a:t> </a:t>
            </a:r>
            <a:r>
              <a:rPr dirty="0" sz="1550" spc="-20" b="1">
                <a:solidFill>
                  <a:srgbClr val="F5A622"/>
                </a:solidFill>
                <a:latin typeface="Cambria"/>
                <a:cs typeface="Cambria"/>
              </a:rPr>
              <a:t>KPIs</a:t>
            </a:r>
            <a:endParaRPr sz="1550">
              <a:latin typeface="Cambria"/>
              <a:cs typeface="Cambria"/>
            </a:endParaRPr>
          </a:p>
          <a:p>
            <a:pPr marL="12700" marR="5080">
              <a:lnSpc>
                <a:spcPts val="1430"/>
              </a:lnSpc>
              <a:spcBef>
                <a:spcPts val="75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dirty="0" sz="1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early,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guide</a:t>
            </a:r>
            <a:r>
              <a:rPr dirty="0" sz="1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every decision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37326" y="3560826"/>
            <a:ext cx="2565400" cy="1022350"/>
            <a:chOff x="6037326" y="3560826"/>
            <a:chExt cx="2565400" cy="1022350"/>
          </a:xfrm>
        </p:grpSpPr>
        <p:sp>
          <p:nvSpPr>
            <p:cNvPr id="14" name="object 14"/>
            <p:cNvSpPr/>
            <p:nvPr/>
          </p:nvSpPr>
          <p:spPr>
            <a:xfrm>
              <a:off x="6043676" y="3567176"/>
              <a:ext cx="2552700" cy="1009650"/>
            </a:xfrm>
            <a:custGeom>
              <a:avLst/>
              <a:gdLst/>
              <a:ahLst/>
              <a:cxnLst/>
              <a:rect l="l" t="t" r="r" b="b"/>
              <a:pathLst>
                <a:path w="2552700" h="1009650">
                  <a:moveTo>
                    <a:pt x="2460879" y="0"/>
                  </a:moveTo>
                  <a:lnTo>
                    <a:pt x="91694" y="0"/>
                  </a:lnTo>
                  <a:lnTo>
                    <a:pt x="55989" y="7201"/>
                  </a:lnTo>
                  <a:lnTo>
                    <a:pt x="26844" y="26844"/>
                  </a:lnTo>
                  <a:lnTo>
                    <a:pt x="7201" y="55989"/>
                  </a:lnTo>
                  <a:lnTo>
                    <a:pt x="0" y="91693"/>
                  </a:lnTo>
                  <a:lnTo>
                    <a:pt x="0" y="917803"/>
                  </a:lnTo>
                  <a:lnTo>
                    <a:pt x="7201" y="953527"/>
                  </a:lnTo>
                  <a:lnTo>
                    <a:pt x="26844" y="982702"/>
                  </a:lnTo>
                  <a:lnTo>
                    <a:pt x="55989" y="1002373"/>
                  </a:lnTo>
                  <a:lnTo>
                    <a:pt x="91694" y="1009586"/>
                  </a:lnTo>
                  <a:lnTo>
                    <a:pt x="2460879" y="1009586"/>
                  </a:lnTo>
                  <a:lnTo>
                    <a:pt x="2496603" y="1002373"/>
                  </a:lnTo>
                  <a:lnTo>
                    <a:pt x="2525791" y="982702"/>
                  </a:lnTo>
                  <a:lnTo>
                    <a:pt x="2545478" y="953527"/>
                  </a:lnTo>
                  <a:lnTo>
                    <a:pt x="2552700" y="917803"/>
                  </a:lnTo>
                  <a:lnTo>
                    <a:pt x="2552700" y="91693"/>
                  </a:lnTo>
                  <a:lnTo>
                    <a:pt x="2545478" y="55989"/>
                  </a:lnTo>
                  <a:lnTo>
                    <a:pt x="2525791" y="26844"/>
                  </a:lnTo>
                  <a:lnTo>
                    <a:pt x="2496603" y="7201"/>
                  </a:lnTo>
                  <a:lnTo>
                    <a:pt x="2460879" y="0"/>
                  </a:lnTo>
                  <a:close/>
                </a:path>
              </a:pathLst>
            </a:custGeom>
            <a:solidFill>
              <a:srgbClr val="0E1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043676" y="3567176"/>
              <a:ext cx="2552700" cy="1009650"/>
            </a:xfrm>
            <a:custGeom>
              <a:avLst/>
              <a:gdLst/>
              <a:ahLst/>
              <a:cxnLst/>
              <a:rect l="l" t="t" r="r" b="b"/>
              <a:pathLst>
                <a:path w="2552700" h="1009650">
                  <a:moveTo>
                    <a:pt x="0" y="91693"/>
                  </a:moveTo>
                  <a:lnTo>
                    <a:pt x="7201" y="55989"/>
                  </a:lnTo>
                  <a:lnTo>
                    <a:pt x="26844" y="26844"/>
                  </a:lnTo>
                  <a:lnTo>
                    <a:pt x="55989" y="7201"/>
                  </a:lnTo>
                  <a:lnTo>
                    <a:pt x="91694" y="0"/>
                  </a:lnTo>
                  <a:lnTo>
                    <a:pt x="2460879" y="0"/>
                  </a:lnTo>
                  <a:lnTo>
                    <a:pt x="2496603" y="7201"/>
                  </a:lnTo>
                  <a:lnTo>
                    <a:pt x="2525791" y="26844"/>
                  </a:lnTo>
                  <a:lnTo>
                    <a:pt x="2545478" y="55989"/>
                  </a:lnTo>
                  <a:lnTo>
                    <a:pt x="2552700" y="91693"/>
                  </a:lnTo>
                  <a:lnTo>
                    <a:pt x="2552700" y="917803"/>
                  </a:lnTo>
                  <a:lnTo>
                    <a:pt x="2545478" y="953527"/>
                  </a:lnTo>
                  <a:lnTo>
                    <a:pt x="2525791" y="982702"/>
                  </a:lnTo>
                  <a:lnTo>
                    <a:pt x="2496603" y="1002373"/>
                  </a:lnTo>
                  <a:lnTo>
                    <a:pt x="2460879" y="1009586"/>
                  </a:lnTo>
                  <a:lnTo>
                    <a:pt x="91694" y="1009586"/>
                  </a:lnTo>
                  <a:lnTo>
                    <a:pt x="55989" y="1002373"/>
                  </a:lnTo>
                  <a:lnTo>
                    <a:pt x="26844" y="982702"/>
                  </a:lnTo>
                  <a:lnTo>
                    <a:pt x="7201" y="953527"/>
                  </a:lnTo>
                  <a:lnTo>
                    <a:pt x="0" y="917803"/>
                  </a:lnTo>
                  <a:lnTo>
                    <a:pt x="0" y="91693"/>
                  </a:lnTo>
                  <a:close/>
                </a:path>
              </a:pathLst>
            </a:custGeom>
            <a:ln w="12700">
              <a:solidFill>
                <a:srgbClr val="0E1B3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211570" y="3610889"/>
            <a:ext cx="1830070" cy="65278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550" spc="-10" b="1">
                <a:solidFill>
                  <a:srgbClr val="F5A622"/>
                </a:solidFill>
                <a:latin typeface="Cambria"/>
                <a:cs typeface="Cambria"/>
              </a:rPr>
              <a:t>Validate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dirty="0" sz="12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visual</a:t>
            </a:r>
            <a:r>
              <a:rPr dirty="0"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intuition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2026-09-28T16:56:03Z</dcterms:created>
  <dcterms:modified xsi:type="dcterms:W3CDTF">2026-09-28T16:56:03Z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2026-09-28T00:00:00Z</vt:filetime>
  </property>
</Properties>
</file>